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" cy="576072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Programme: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What We're Doing,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You'll Know It's Working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0584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board-level reference for the next six months.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5486400"/>
            <a:ext cx="5486400" cy="36576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Group COO and the Board   ·   Period of recovery: Months 1 – 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document to: approve the plan, run monthly reviews, decide when to escalate.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five sentences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read nothing else in this document, read this slide.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5568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502920" cy="77724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20% in 2024, then fell 5% in 2025.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3042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our best year ever in 2024 and our first contraction in 2025.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88920"/>
            <a:ext cx="502920" cy="77724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88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8803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looks roughly stable. The story is in how we got there.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1729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acquired about 44,000 new customers in 2023, 26,000 in 2024, and 22,000 in 2025. New-customer acquisition has roughly halved.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1115568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657600"/>
            <a:ext cx="502920" cy="77724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576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7490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most loyal customers — about 19,000 of them — held the line through 2024.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0416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customers buy almost monthly and deliver around two-thirds of our revenue. They held us up while acquisition slowed.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526280"/>
            <a:ext cx="11155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526280"/>
            <a:ext cx="502920" cy="77724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526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6177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in late 2025, the website checkout broke.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9103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reach our site, choose products, add them to their cart — and most cannot complete the purchase. Cart-to-order conversion fell from 22% to 7%.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394960"/>
            <a:ext cx="1115568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5394960"/>
            <a:ext cx="502920" cy="77724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394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88720" y="54864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can no longer compensate. The contraction has surfaced.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57790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broke at once: site traffic, conversion rate, and most acutely the checkout step. The recovery plan addresses all three.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 — without the spreadsheet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that frame the size of the problem and the size of the recovery.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657600" cy="374904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3657600" cy="54864"/>
          </a:xfrm>
          <a:prstGeom prst="rect">
            <a:avLst/>
          </a:prstGeom>
          <a:solidFill>
            <a:srgbClr val="C445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40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IN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+20% year. The first time MYDAWA has not grown.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920240"/>
            <a:ext cx="3657600" cy="374904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1920240"/>
            <a:ext cx="3657600" cy="54864"/>
          </a:xfrm>
          <a:prstGeom prst="rect">
            <a:avLst/>
          </a:prstGeom>
          <a:solidFill>
            <a:srgbClr val="C445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240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544568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CONVERSION TODAY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44568" y="4114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22% historically. Three out of every four would-be customers cannot complete their purchase.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0456" y="1920240"/>
            <a:ext cx="3657600" cy="374904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0456" y="1920240"/>
            <a:ext cx="3657600" cy="54864"/>
          </a:xfrm>
          <a:prstGeom prst="rect">
            <a:avLst/>
          </a:prstGeom>
          <a:solidFill>
            <a:srgbClr val="2D5F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2240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130M+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8403336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OPPORTUNITY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03336" y="4114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returning the funnel and acquisition to 2024 levels would add back to annual revenue.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solidFill>
            <a:srgbClr val="0D2C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897880"/>
            <a:ext cx="73152" cy="45720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This is fixable. The biggest leak is also the easiest to fix.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in three phases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a clear job. We do not move to the next phase until the current one has done its job.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657600" cy="443484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3657600" cy="54864"/>
          </a:xfrm>
          <a:prstGeom prst="rect">
            <a:avLst/>
          </a:prstGeom>
          <a:solidFill>
            <a:srgbClr val="C445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BLEEDING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checkout. Prove our diagnosis is right.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" y="3520440"/>
            <a:ext cx="329184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611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work on one priority: get the website checkout working again, and clean up the data we use to measure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" y="5349240"/>
            <a:ext cx="329184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5440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KNOW IT WORKED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" y="5669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Cart-to-order conversion back above 15% by end of month.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61688" y="1920240"/>
            <a:ext cx="3657600" cy="443484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1920240"/>
            <a:ext cx="365760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2856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 –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62856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62856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back acquisition. Defend our best customers. Clean the foundations.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62856" y="3520440"/>
            <a:ext cx="329184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856" y="3611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62856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rebuilds new-customer acquisition. Site experience improves. We reactivate dormant customers. We fix data and product hygiene.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62856" y="5349240"/>
            <a:ext cx="329184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62856" y="5440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KNOW IT WORKED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62856" y="5669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back at KES 32M for two months running.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0456" y="1920240"/>
            <a:ext cx="3657600" cy="443484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0456" y="1920240"/>
            <a:ext cx="3657600" cy="54864"/>
          </a:xfrm>
          <a:prstGeom prst="rect">
            <a:avLst/>
          </a:prstGeom>
          <a:solidFill>
            <a:srgbClr val="2D5F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21624" y="2057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 – 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21624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IT'S DURABLE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421624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gain is real, not a bounce. Hand back to BAU.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421624" y="3520440"/>
            <a:ext cx="329184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21624" y="3611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21624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actions. We document what worked, watch the numbers hold, and transition the programme back to functional teams.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21624" y="5349240"/>
            <a:ext cx="329184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21624" y="5440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KNOW IT WORKED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21624" y="5669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consecutive months at target. Programme closes.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DONE, AND WHO DOES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workstreams, named owners, single accountabilities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co-ownership. Each workstream has one named accountable person. The COO escalates if any cannot deliver.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solidFill>
            <a:srgbClr val="0D2C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922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" y="1792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0" y="17922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0" y="17922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835640" y="17922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11155680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40280"/>
            <a:ext cx="64008" cy="457200"/>
          </a:xfrm>
          <a:prstGeom prst="rect">
            <a:avLst/>
          </a:prstGeom>
          <a:solidFill>
            <a:srgbClr val="C445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checkout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leak. 7% conversion has to return to 18%+.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Ecommerce Ops &amp; Fulfilment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835640" y="22402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43200"/>
            <a:ext cx="64008" cy="457200"/>
          </a:xfrm>
          <a:prstGeom prst="rect">
            <a:avLst/>
          </a:prstGeom>
          <a:solidFill>
            <a:srgbClr val="C445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Trustable funnel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2743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manage what we can't measure cleanly.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9536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835640" y="2743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246120"/>
            <a:ext cx="11155680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246120"/>
            <a:ext cx="64008" cy="45720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rebuild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halved; we need the spend story.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9536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 (Group CFO supporting)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835640" y="3246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3749040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749040"/>
            <a:ext cx="64008" cy="45720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back lapsed customers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23360" y="3749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 customers bought once and never returned. Reactivate 10%.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9536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Customer Experience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835640" y="3749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4251960"/>
            <a:ext cx="11155680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251960"/>
            <a:ext cx="64008" cy="45720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website experience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fell 30%. Get it back to 2%.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59536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Ecommerce Ops &amp; Fulfilment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835640" y="42519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4754880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4754880"/>
            <a:ext cx="64008" cy="457200"/>
          </a:xfrm>
          <a:prstGeom prst="rect">
            <a:avLst/>
          </a:prstGeom>
          <a:solidFill>
            <a:srgbClr val="2C8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97280" y="4754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our best customers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023360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19,000 loyalists give us 65% of revenue. Don't lose them.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59536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Medical (Supply Chain supporting)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835640" y="4754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2920" y="5257800"/>
            <a:ext cx="11155680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5257800"/>
            <a:ext cx="64008" cy="457200"/>
          </a:xfrm>
          <a:prstGeom prst="rect">
            <a:avLst/>
          </a:prstGeom>
          <a:solidFill>
            <a:srgbClr val="2C8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97280" y="5257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our product data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023360" y="5257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products carry no proper category. Every report is partly blind.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595360" y="5257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Supply Chain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835640" y="5257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2920" y="5760720"/>
            <a:ext cx="64008" cy="457200"/>
          </a:xfrm>
          <a:prstGeom prst="rect">
            <a:avLst/>
          </a:prstGeom>
          <a:solidFill>
            <a:srgbClr val="2C8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097280" y="5760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catalogue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023360" y="5760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products haven't sold in a year. Decide: keep, drop, or order-to-demand.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595360" y="5760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Supply Chain (Retail Ops supporting)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835640" y="5760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YOU'LL KNOW IT'S WORKING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measurement — for three audiences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looks at one number. The COO looks at three. Each owner looks at one. Nobody is asked to monitor everything.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1280160"/>
          </a:xfrm>
          <a:prstGeom prst="rect">
            <a:avLst/>
          </a:prstGeom>
          <a:solidFill>
            <a:srgbClr val="0D2C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73152" cy="128016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BOARD  ·  ONE NUMBER  ·  REVIEWED MONTHLY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KES 28.5M / month. Target: KES 32M+ / month, sustained for two months running by Month 6.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1828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11155680" cy="155448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200400"/>
            <a:ext cx="73152" cy="155448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101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COO  ·  THREE EARLY-WARNING SIGNALS  ·  REVIEWED WEEKLY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584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move before revenue does. If they aren't moving, neither will revenue.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65960" y="4224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4206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for 30d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conversion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4224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4206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2.0%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6052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/ month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~2,250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32520" y="4224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52560" y="4206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2,800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438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0" y="3291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0" dirty="0"/>
          </a:p>
        </p:txBody>
      </p:sp>
      <p:sp>
        <p:nvSpPr>
          <p:cNvPr id="31" name="Shape 29"/>
          <p:cNvSpPr/>
          <p:nvPr/>
        </p:nvSpPr>
        <p:spPr>
          <a:xfrm>
            <a:off x="502920" y="4892040"/>
            <a:ext cx="11155680" cy="146304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892040"/>
            <a:ext cx="73152" cy="1463040"/>
          </a:xfrm>
          <a:prstGeom prst="rect">
            <a:avLst/>
          </a:prstGeom>
          <a:solidFill>
            <a:srgbClr val="2C8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0017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OWNER  ·  ONE NUMBER PER WORKSTREAM  ·  REVIEWED WEEKLY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5276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owner has a single number that proves their work is moving. They report it weekly.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6235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checkout pass-rate · funnel data coverage · marketing spend by channel · reactivated customers · CRO test win-rate · loyalty cohort retention · classified products % · cleared dormant SKUs.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0" y="49834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workstreams, eight KPIs — baseline, target, cadence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written in the same form. No target without baseline. No baseline without a review rhythm.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solidFill>
            <a:srgbClr val="0D2C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922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" y="1792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2160" y="1792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955280" y="1792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966960" y="1792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11155680" cy="41148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40280"/>
            <a:ext cx="64008" cy="411480"/>
          </a:xfrm>
          <a:prstGeom prst="rect">
            <a:avLst/>
          </a:prstGeom>
          <a:solidFill>
            <a:srgbClr val="C445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→ Order conversion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 (Q1 '26)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5528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6696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for 30d, then weekly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69748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697480"/>
            <a:ext cx="64008" cy="411480"/>
          </a:xfrm>
          <a:prstGeom prst="rect">
            <a:avLst/>
          </a:prstGeom>
          <a:solidFill>
            <a:srgbClr val="C445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697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telemetry coverage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(Nov-Dec gaps)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5528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reconciled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154680"/>
            <a:ext cx="11155680" cy="41148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154680"/>
            <a:ext cx="64008" cy="41148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154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new-customer acquisition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of 2023 peak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5528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of 2023 peak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6696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61188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611880"/>
            <a:ext cx="64008" cy="41148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One-and-done customers reactivated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45,000 lapsed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5528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4,500 (10%)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6696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4069080"/>
            <a:ext cx="11155680" cy="41148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069080"/>
            <a:ext cx="64008" cy="41148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069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97280" y="4069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conversion rate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5216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 (was 2.0%)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95528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2.0%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96696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452628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4526280"/>
            <a:ext cx="64008" cy="411480"/>
          </a:xfrm>
          <a:prstGeom prst="rect">
            <a:avLst/>
          </a:prstGeom>
          <a:solidFill>
            <a:srgbClr val="2C8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526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97280" y="4526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90-day retention rate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52160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Week 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955280" y="4526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+5pp on baseline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966960" y="4526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" y="4983480"/>
            <a:ext cx="11155680" cy="41148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4983480"/>
            <a:ext cx="64008" cy="411480"/>
          </a:xfrm>
          <a:prstGeom prst="rect">
            <a:avLst/>
          </a:prstGeom>
          <a:solidFill>
            <a:srgbClr val="2C8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983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97280" y="4983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classification completeness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852160" y="4983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(4,555 missing)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95528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966960" y="4983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milestone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2920" y="5440680"/>
            <a:ext cx="64008" cy="411480"/>
          </a:xfrm>
          <a:prstGeom prst="rect">
            <a:avLst/>
          </a:prstGeom>
          <a:solidFill>
            <a:srgbClr val="2C8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5440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97280" y="5440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SKU count (12-mo no sale)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852160" y="5440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2,036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955280" y="5440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800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966960" y="5440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baseline is locked in Week 1 — Champion 90-day retention has not been measured before. The first measurement becomes the baseline; the +5pp target attaches to it.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meets when, what they decide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recovery only works if the rhythm of conversation matches the rhythm of the data. This is that rhythm.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743200" cy="452628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2743200" cy="54864"/>
          </a:xfrm>
          <a:prstGeom prst="rect">
            <a:avLst/>
          </a:prstGeom>
          <a:solidFill>
            <a:srgbClr val="C445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owners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880360"/>
            <a:ext cx="242316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71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 only. 15-minute stand-up. Owners share what moved, what's blocked. The COO drops in unannounced.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242316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DECIDED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5349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Unblock. Reassign capacity. Escalate within hours, not days.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92424" y="1828800"/>
            <a:ext cx="2743200" cy="452628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2424" y="1828800"/>
            <a:ext cx="274320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75304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+ lead owners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75304" y="2880360"/>
            <a:ext cx="242316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5304" y="2971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75304" y="3200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minutes, every Monday. Three lead KPIs reviewed against target. Each owner reports their one operational KPI.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75304" y="5029200"/>
            <a:ext cx="242316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DECIDED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75304" y="5349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the course, accelerate, or pivot. Reallocate budget within the programme.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81928" y="1828800"/>
            <a:ext cx="2743200" cy="452628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1928" y="1828800"/>
            <a:ext cx="2743200" cy="54864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64808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+ COO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64808" y="2880360"/>
            <a:ext cx="242316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2971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64808" y="3200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minutes. Headline KPI (revenue) plus the three lead indicators. One slide per phase showing where we are vs the plan.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64808" y="5029200"/>
            <a:ext cx="242316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DECIDED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64808" y="5349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advancement. Approval of new budget asks. Whether stop conditions have triggered.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71432" y="1828800"/>
            <a:ext cx="2743200" cy="452628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71432" y="1828800"/>
            <a:ext cx="2743200" cy="54864"/>
          </a:xfrm>
          <a:prstGeom prst="rect">
            <a:avLst/>
          </a:prstGeom>
          <a:solidFill>
            <a:srgbClr val="2D5F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54312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executive team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354312" y="2880360"/>
            <a:ext cx="242316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54312" y="2971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354312" y="320040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Half-day. Programme-level review. What worked, what didn't, what's next quarter's emphasis. Owners present in their own voice.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354312" y="5029200"/>
            <a:ext cx="2423160" cy="18288"/>
          </a:xfrm>
          <a:prstGeom prst="rect">
            <a:avLst/>
          </a:prstGeom>
          <a:solidFill>
            <a:srgbClr val="DDD7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54312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DECIDED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54312" y="5349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adjustments. Programme close-down (Month 6). Hand-back to BAU governance.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EXPECT, MONTH BY MONTH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'recovery' looks like, in plain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scenarios. The floor assumes only Phase 1 lands. The plan assumes all phases succeed.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411480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155680" cy="384048"/>
          </a:xfrm>
          <a:prstGeom prst="rect">
            <a:avLst/>
          </a:prstGeom>
          <a:solidFill>
            <a:srgbClr val="0D2C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92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7922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792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(only Phase 1 lands)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7922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(everything works)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509760" y="17922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seeing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11155680" cy="502920"/>
          </a:xfrm>
          <a:prstGeom prst="rect">
            <a:avLst/>
          </a:prstGeom>
          <a:solidFill>
            <a:srgbClr val="FAFAF7"/>
          </a:solidFill>
          <a:ln w="3810">
            <a:solidFill>
              <a:srgbClr val="DDD7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28.5M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29.0M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checkout in flight; minimal headline movement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111556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7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834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29.5M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30.5M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0" y="2834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fix landing; first reactivation results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383280"/>
            <a:ext cx="11155680" cy="502920"/>
          </a:xfrm>
          <a:prstGeom prst="rect">
            <a:avLst/>
          </a:prstGeom>
          <a:solidFill>
            <a:srgbClr val="FAFAF7"/>
          </a:solidFill>
          <a:ln w="3810">
            <a:solidFill>
              <a:srgbClr val="DDD7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9456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30.0M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31.0M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0976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rebuild compounding; conversion climbing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931920"/>
            <a:ext cx="111556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7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94560" y="3931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30.5M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0" y="3931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32.0M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0976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target hit if all tracks line up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4480560"/>
            <a:ext cx="11155680" cy="502920"/>
          </a:xfrm>
          <a:prstGeom prst="rect">
            <a:avLst/>
          </a:prstGeom>
          <a:solidFill>
            <a:srgbClr val="FAFAF7"/>
          </a:solidFill>
          <a:ln w="3810">
            <a:solidFill>
              <a:srgbClr val="DDD7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480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194560" y="4480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4480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30.5M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32320" y="4480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32.5M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50976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sustained month at target — the proof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029200"/>
            <a:ext cx="111556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DD7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029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194560" y="5029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0" y="5029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31.0M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32320" y="5029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33.0M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509760" y="5029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sustained month — declared success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solidFill>
            <a:srgbClr val="0D2C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target is not bending upward by Month 3, that is the early warning. The COO surfaces it before Month 4 closes.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CHALLENGE 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moments where we stop and reconsider — written in upfront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conditions are not planning to fail. They are the discipline that prevents a plan from quietly extending past honesty.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457200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C445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22128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checkout has not moved AND telemetry is clean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" y="3154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Month 1, two things should be true: the cart-to-order conversion has improved, and we trust our funnel data.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3703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TRIGGER DOES NOT FIRE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" y="3931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checkout has improved, OR if the data still needs work — we proceed normally.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4224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(Action 1 fix is landing; Action 2 is still confirming the metric.)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4617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TRIGGER FIRES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checkout has not moved AND we trust the data showing it — the original diagnosis was wrong.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" y="53492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 returns to the board with a revised diagnosis before Phase 2 begins. We do not start the larger investment cycle on a diagnosis we no longer believe.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0488" y="1783080"/>
            <a:ext cx="5486400" cy="457200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1783080"/>
            <a:ext cx="5486400" cy="54864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1656" y="22128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revenue has not moved by end of Phase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91656" y="2926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91656" y="3154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Month 4, the headline KPI — monthly revenue — should have started moving toward target.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1656" y="3703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TRIGGER DOES NOT FIRE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91656" y="3931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revenue has started moving toward target — we proceed to Phase 3 (durable state).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91656" y="4224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(Two consecutive months at or above target = success.)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91656" y="4617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TRIGGER FIRES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91656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revenue has not moved, the recovery is not landing.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91656" y="53492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 returns to the board with a Phase 2 review. Phase 3 does not silently start. We either re-scope the recovery or accept a different definition of success.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today. Three commitments going forward.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cannot get all six, we should pause and renegotiate the plan before starting.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4526280"/>
          </a:xfrm>
          <a:prstGeom prst="rect">
            <a:avLst/>
          </a:prstGeom>
          <a:solidFill>
            <a:srgbClr val="FAFAF7"/>
          </a:solidFill>
          <a:ln w="9525">
            <a:solidFill>
              <a:srgbClr val="DDD7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TODAY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we need approved before we start.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697480"/>
            <a:ext cx="502920" cy="50292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743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diagnosis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063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contraction is funnel-led. Checkout, traffic and acquisition are the three things to fix — in that order.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886200"/>
            <a:ext cx="502920" cy="50292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plan and named owners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4251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workstreams, three phases, six months. Single accountable owner per workstream. The COO chairs the programme.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" y="5074920"/>
            <a:ext cx="502920" cy="50292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5120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stop conditions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5440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and Day 120 are formal review points. The COO comes back if either fires. The plan does not silently extend.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5486400" cy="4526280"/>
          </a:xfrm>
          <a:prstGeom prst="rect">
            <a:avLst/>
          </a:prstGeom>
          <a:solidFill>
            <a:srgbClr val="0D2C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783080"/>
            <a:ext cx="54864" cy="452628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GOING FORWARD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82512" y="2194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behaviours we ask the board to hold itself to.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82512" y="2697480"/>
            <a:ext cx="502920" cy="50292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95160" y="2743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to the monthly review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3063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a month. The discipline of monthly conversation is what keeps a plan honest. Skipped reviews are how recoveries silently stall.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82512" y="3886200"/>
            <a:ext cx="502920" cy="50292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lead indicators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4251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a lag indicator. Cart→order, conversion rate, and new customers will move first. Don't ask for revenue updates in week 4 — ask for the lead numbers.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82512" y="5074920"/>
            <a:ext cx="502920" cy="50292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95160" y="5120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 the stop conditions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95160" y="5440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fire, we want to hear 'come back with the revised plan,' not 'push through and report back next quarter.' The whole architecture relies on this.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that could derail this — and what we'd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named these in advance so the board recognises them when they appear, rather than treating them as surprises.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4864" cy="77724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checkout is harder to fix than we think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671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checkout problems are quick (fraud-rejection settings, login flow). Others are deep platform debt that takes months. If we find the second kind, Phase 1 extends and the revenue path slides right. We would surface this in the Day 14 milestone review.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1115568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51760"/>
            <a:ext cx="54864" cy="77724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tells a different story than we think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35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7% checkout figure is unusually low. If our funnel data turns out to have a measurement bug, we may discover the problem is smaller than thought. Good news in one sense — but our diagnosis would shift, and the recovery plan with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1115568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520440"/>
            <a:ext cx="54864" cy="77724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marketing spend was deliberately cut, not just declined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90448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reconstruction in Month 2 will tell us whether the traffic decline is something to fix or a strategic decision the board already made. If the latter, this becomes a board-level conversation about strategy, not a marketing project.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1115568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389120"/>
            <a:ext cx="54864" cy="77724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805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loyalty base starts cracking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773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19,000 loyal customers held us up through 2024. If they begin to lapse during the recovery period, the floor falls out. We watch their retention rate weekly as a tripwire.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257800"/>
            <a:ext cx="1115568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DDD7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257800"/>
            <a:ext cx="54864" cy="777240"/>
          </a:xfrm>
          <a:prstGeom prst="rect">
            <a:avLst/>
          </a:prstGeom>
          <a:solidFill>
            <a:srgbClr val="E0A4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492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macro environment shifts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64184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Kenyan retail more broadly contracts — a possibility that this analysis cannot test — some of the recovery upside disappears. The plan is robust to a portion of this; if the shift is severe, we revise.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BOARD BRIEFING  ·  RECOVERY PROGRAMME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" cy="5760720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3F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MYDAWA  ·  RECOVERY PROGRAMME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know. What we'll do. What you'll see.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5840" y="3291840"/>
            <a:ext cx="5486400" cy="36576"/>
          </a:xfrm>
          <a:prstGeom prst="rect">
            <a:avLst/>
          </a:prstGeom>
          <a:solidFill>
            <a:srgbClr val="3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474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why revenue slowed: the digital funnel broke. We know what to do about it: fix the checkout first, then rebuild acquisition, then prove the gain holds. We know how to tell if it's working: three lead indicators move before revenue does.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months. One headline number. Three lead indicators. Eight workstreams. Two stop conditions. And a meeting cadence — daily, weekly, monthly, quarterly — that keeps the conversation honest.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Briefing  ·  Diagnosis · Plan · Cadence  ·  For approval and ongoing reference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MYDAWA — Board Briefing: Diagnosis, Plan, Cadence</dc:title>
  <dc:subject>PptxGenJS Presentation</dc:subject>
  <dc:creator>Strategy &amp; Analytics</dc:creator>
  <cp:lastModifiedBy>Strategy &amp; Analytics</cp:lastModifiedBy>
  <cp:revision>1</cp:revision>
  <dcterms:created xsi:type="dcterms:W3CDTF">2026-05-10T03:14:24Z</dcterms:created>
  <dcterms:modified xsi:type="dcterms:W3CDTF">2026-05-10T03:14:24Z</dcterms:modified>
</cp:coreProperties>
</file>