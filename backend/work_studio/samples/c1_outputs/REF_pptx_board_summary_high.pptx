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548640" cy="73152"/>
          </a:xfrm>
          <a:prstGeom prst="rect">
            <a:avLst/>
          </a:prstGeom>
          <a:solidFill>
            <a:srgbClr val="6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E1418"/>
                </a:solidFill>
                <a:latin typeface="Calibri"/>
              </a:rPr>
              <a:t>BOARD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E0E0E"/>
                </a:solidFill>
                <a:latin typeface="Calibri"/>
              </a:rPr>
              <a:t>Strategy Memo: Should we expand into the Nairobi healthcare market by Q3 2026 given 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Synthesised from a Solva develop strategy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E1418"/>
                </a:solidFill>
                <a:latin typeface="Calibri"/>
              </a:rPr>
              <a:t>FRAME · WEIGH ·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Syni Industries · Board Briefing  ·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548640"/>
            <a:ext cx="594360" cy="5486400"/>
          </a:xfrm>
          <a:prstGeom prst="rect">
            <a:avLst/>
          </a:prstGeom>
          <a:noFill/>
        </p:spPr>
        <p:txBody>
          <a:bodyPr wrap="none" lIns="25400" rIns="25400" tIns="25400" bIns="25400" vert="vert270" anchor="ctr">
            <a:spAutoFit/>
          </a:bodyPr>
          <a:lstStyle/>
          <a:p>
            <a:pPr algn="ctr"/>
            <a:r>
              <a:rPr sz="1000" b="1" spc="200">
                <a:solidFill>
                  <a:srgbClr val="FAF6EF"/>
                </a:solidFill>
                <a:latin typeface="Calibri"/>
              </a:rPr>
              <a:t>SYNI INDUSTRIES   ·   BOARD BRIEFING   ·   RECOVERY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2179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6E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1418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772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0E0E"/>
                </a:solidFill>
                <a:latin typeface="Calibri"/>
              </a:rPr>
              <a:t>THE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E0E0E"/>
                </a:solidFill>
                <a:latin typeface="Calibri"/>
              </a:rPr>
              <a:t>Should we expand into the Nairobi healthcare market by Q3 2026 given our 30M USD facility, with the board and CFO supporting and a 12-month payback decision criterion. The Q1 2026 board memo and audit report frame the constraint.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548640"/>
            <a:ext cx="594360" cy="5486400"/>
          </a:xfrm>
          <a:prstGeom prst="rect">
            <a:avLst/>
          </a:prstGeom>
          <a:noFill/>
        </p:spPr>
        <p:txBody>
          <a:bodyPr wrap="none" lIns="25400" rIns="25400" tIns="25400" bIns="25400" vert="vert270" anchor="ctr">
            <a:spAutoFit/>
          </a:bodyPr>
          <a:lstStyle/>
          <a:p>
            <a:pPr algn="ctr"/>
            <a:r>
              <a:rPr sz="1000" b="1" spc="200">
                <a:solidFill>
                  <a:srgbClr val="FAF6EF"/>
                </a:solidFill>
                <a:latin typeface="Calibri"/>
              </a:rPr>
              <a:t>SYNI INDUSTRIES   ·   BOARD BRIEFING   ·   RECOVERY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2179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6E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1418"/>
                </a:solidFill>
                <a:latin typeface="Calibri"/>
              </a:rPr>
              <a:t>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772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0E0E"/>
                </a:solidFill>
                <a:latin typeface="Calibri"/>
              </a:rPr>
              <a:t>WHAT WE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E0E0E"/>
                </a:solidFill>
                <a:latin typeface="Calibri"/>
              </a:rPr>
              <a:t>We're beyond whether to expand — we're diagnosing whether this board can actually decide it [T:user_assertion]. The [DATE_3] board meeting approved "exploration," but the [DATE_3] audit revealed domestic margin compression, and no one paused to reconcile those two facts [T:corpus]. That's not a strategy gap; it's a governance failure [T:domain_prior].
The pattern reads clearly: the [TITLE_1] has named diversification as priority one, the [ORG_1] is sponsoring, and the board gave a green light to explore without binding the exploration to decision criteria [T:corpus]. A comparable mid-cap bank had the same structure — three meetings, same NED dominating, chair never redirecting [T:comparable]. The board wasn't deciding; it was performing deliberation [T:comparable]. Your board may be doing the same [T:speculation]. The 30M facility and [DATE_2] payback window are real constraints, but they're being handled as parameters in a model rather than as binding conditions that force trade-offs [T:domain_prior]. When governance is captured by proponents — even well-intentioned ones — capital allocation decisions drift toward the path of least resistance [T:domain_prior].
The binding constraint here is **composition and chairing**: the board has no effective counterweight to the [ORG_1]-[TITLE_1] axis, and the chair isn't creating the conditions for genuine challenge [T:speculation]. The audit findings should have triggered a pause; instead, they were filed [T:corpus]. That's not a process problem you fix with better papers — it's a structural problem in who holds standing to question the premise [T:domain_prior].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548640"/>
            <a:ext cx="594360" cy="5486400"/>
          </a:xfrm>
          <a:prstGeom prst="rect">
            <a:avLst/>
          </a:prstGeom>
          <a:noFill/>
        </p:spPr>
        <p:txBody>
          <a:bodyPr wrap="none" lIns="25400" rIns="25400" tIns="25400" bIns="25400" vert="vert270" anchor="ctr">
            <a:spAutoFit/>
          </a:bodyPr>
          <a:lstStyle/>
          <a:p>
            <a:pPr algn="ctr"/>
            <a:r>
              <a:rPr sz="1000" b="1" spc="200">
                <a:solidFill>
                  <a:srgbClr val="FAF6EF"/>
                </a:solidFill>
                <a:latin typeface="Calibri"/>
              </a:rPr>
              <a:t>SYNI INDUSTRIES   ·   BOARD BRIEFING   ·   RECOVERY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2179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6E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1418"/>
                </a:solidFill>
                <a:latin typeface="Calibri"/>
              </a:rP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772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0E0E"/>
                </a:solidFill>
                <a:latin typeface="Calibri"/>
              </a:rPr>
              <a:t>WHERE THE WEIGHT SITS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E0E0E"/>
                </a:solidFill>
                <a:latin typeface="Calibri"/>
              </a:rPr>
              <a:t>**Recommendation 1:** Require the chair to commission a pre-commitment review by an independent NED (not the [ORG_1]) that reconciles the [DATE_3] audit margin findings with the [LOC_1] expansion case, deliverable within 30 days [T:domain_prior].
**Recommendation 2:** Structure the next board session with a formal "red team" segment where one NED is assigned to argue the case *against* expansion, with equal floor time to the [ORG_1] presentation [T:comparable].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548640"/>
            <a:ext cx="594360" cy="5486400"/>
          </a:xfrm>
          <a:prstGeom prst="rect">
            <a:avLst/>
          </a:prstGeom>
          <a:noFill/>
        </p:spPr>
        <p:txBody>
          <a:bodyPr wrap="none" lIns="25400" rIns="25400" tIns="25400" bIns="25400" vert="vert270" anchor="ctr">
            <a:spAutoFit/>
          </a:bodyPr>
          <a:lstStyle/>
          <a:p>
            <a:pPr algn="ctr"/>
            <a:r>
              <a:rPr sz="1000" b="1" spc="200">
                <a:solidFill>
                  <a:srgbClr val="FAF6EF"/>
                </a:solidFill>
                <a:latin typeface="Calibri"/>
              </a:rPr>
              <a:t>SYNI INDUSTRIES   ·   BOARD BRIEFING   ·   RECOVERY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2179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6E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1418"/>
                </a:solidFill>
                <a:latin typeface="Calibri"/>
              </a:rPr>
              <a:t>THE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772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0E0E"/>
                </a:solidFill>
                <a:latin typeface="Calibri"/>
              </a:rPr>
              <a:t>RECOMMENDED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63721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E0E0E"/>
                </a:solidFill>
                <a:latin typeface="Calibri"/>
              </a:rPr>
              <a:t>•  Recommendation 1: Require the chair to commission a pre-commitment review by an independent NED (not the [ORG_1]) that reconciles the [DATE_3] audit margin findings with the [LOC_1] expansion case, deliverable within 30 days [T:domain_prior].
•  Recommendation 2: Structure the next board session with a formal "red team" segment where one NED is assigned to argue the case *against* expansion, with equal floor time to the [ORG_1] presentation [T:comparable].
•  Recommendation 3: Set a binding go/no-go gate at [DATE_4] that requires unanimous board approval to proceed beyond exploratory spend, with explicit criteria tied to the audit findings [T:domain_prior].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548640"/>
            <a:ext cx="594360" cy="5486400"/>
          </a:xfrm>
          <a:prstGeom prst="rect">
            <a:avLst/>
          </a:prstGeom>
          <a:noFill/>
        </p:spPr>
        <p:txBody>
          <a:bodyPr wrap="none" lIns="25400" rIns="25400" tIns="25400" bIns="25400" vert="vert270" anchor="ctr">
            <a:spAutoFit/>
          </a:bodyPr>
          <a:lstStyle/>
          <a:p>
            <a:pPr algn="ctr"/>
            <a:r>
              <a:rPr sz="1000" b="1" spc="200">
                <a:solidFill>
                  <a:srgbClr val="FAF6EF"/>
                </a:solidFill>
                <a:latin typeface="Calibri"/>
              </a:rPr>
              <a:t>SYNI INDUSTRIES   ·   BOARD BRIEFING   ·   RECOVERY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2179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6E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1418"/>
                </a:solidFill>
                <a:latin typeface="Calibri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772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0E0E"/>
                </a:solidFill>
                <a:latin typeface="Calibri"/>
              </a:rPr>
              <a:t>WHAT GETS DONE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828800"/>
          <a:ext cx="106372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2127443"/>
                <a:gridCol w="2127443"/>
                <a:gridCol w="2127443"/>
                <a:gridCol w="2127443"/>
              </a:tblGrid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BY</a:t>
                      </a:r>
                    </a:p>
                  </a:txBody>
                  <a:tcPr>
                    <a:solidFill>
                      <a:srgbClr val="0E0E0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Require the chair to commission a pre-commitment review by an independent NED (not the [OR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Next cycle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Structure the next board session with a formal "red team" segment where one NED is assigne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Next cycle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Set a binding go/no-go gate at [DATE_4] that requires unanimous board approval to proceed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E0E0E"/>
                          </a:solidFill>
                          <a:latin typeface="Calibri"/>
                        </a:rPr>
                        <a:t>Next cycle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548640"/>
            <a:ext cx="594360" cy="5486400"/>
          </a:xfrm>
          <a:prstGeom prst="rect">
            <a:avLst/>
          </a:prstGeom>
          <a:noFill/>
        </p:spPr>
        <p:txBody>
          <a:bodyPr wrap="none" lIns="25400" rIns="25400" tIns="25400" bIns="25400" vert="vert270" anchor="ctr">
            <a:spAutoFit/>
          </a:bodyPr>
          <a:lstStyle/>
          <a:p>
            <a:pPr algn="ctr"/>
            <a:r>
              <a:rPr sz="1000" b="1" spc="200">
                <a:solidFill>
                  <a:srgbClr val="FAF6EF"/>
                </a:solidFill>
                <a:latin typeface="Calibri"/>
              </a:rPr>
              <a:t>SYNI INDUSTRIES   ·   BOARD BRIEFING   ·   RECOVERY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2179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6E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1418"/>
                </a:solidFill>
                <a:latin typeface="Calibri"/>
              </a:rPr>
              <a:t>HOW WE'RE 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772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E0E0E"/>
                </a:solidFill>
                <a:latin typeface="Calibri"/>
              </a:rP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E0E0E"/>
                </a:solidFill>
                <a:latin typeface="Calibri"/>
              </a:rPr>
              <a:t>Verdict: qualified.
Confidence: 85%.
Validator: gemini (gemini-2.5-flash).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548640"/>
            <a:ext cx="594360" cy="5486400"/>
          </a:xfrm>
          <a:prstGeom prst="rect">
            <a:avLst/>
          </a:prstGeom>
          <a:noFill/>
        </p:spPr>
        <p:txBody>
          <a:bodyPr wrap="none" lIns="25400" rIns="25400" tIns="25400" bIns="25400" vert="vert270" anchor="ctr">
            <a:spAutoFit/>
          </a:bodyPr>
          <a:lstStyle/>
          <a:p>
            <a:pPr algn="ctr"/>
            <a:r>
              <a:rPr sz="1000" b="1" spc="200">
                <a:solidFill>
                  <a:srgbClr val="FAF6EF"/>
                </a:solidFill>
                <a:latin typeface="Calibri"/>
              </a:rPr>
              <a:t>SYNI INDUSTRIES   ·   BOARD BRIEFING   ·   RECOVERY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2179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AF6EF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1418"/>
                </a:solidFill>
                <a:latin typeface="Calibri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0E0E0E"/>
                </a:solidFill>
                <a:latin typeface="Calibri"/>
              </a:rPr>
              <a:t>This memo was synthesised from a Solva develop strategy session and carries a qualified verdict at 85%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555555"/>
                </a:solidFill>
                <a:latin typeface="Calibri"/>
              </a:rPr>
              <a:t>SYNI INDUSTRIES · BOARD BRIEFING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