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3EA"/>
        </a:solidFill>
        <a:effectLst/>
      </p:bgPr>
    </p:bg>
    <p:spTree>
      <p:nvGrpSpPr>
        <p:cNvPr id="1" name=""/>
        <p:cNvGrpSpPr/>
        <p:nvPr/>
      </p:nvGrpSpPr>
      <p:grpSpPr/>
      <p:sp>
        <p:nvSpPr>
          <p:cNvPr id="2" name="TextBox 1"/>
          <p:cNvSpPr txBox="1"/>
          <p:nvPr/>
        </p:nvSpPr>
        <p:spPr>
          <a:xfrm>
            <a:off x="548640" y="365760"/>
            <a:ext cx="10972800" cy="365760"/>
          </a:xfrm>
          <a:prstGeom prst="rect">
            <a:avLst/>
          </a:prstGeom>
          <a:noFill/>
        </p:spPr>
        <p:txBody>
          <a:bodyPr wrap="square">
            <a:spAutoFit/>
          </a:bodyPr>
          <a:lstStyle/>
          <a:p>
            <a:pPr algn="l"/>
            <a:r>
              <a:rPr sz="1000" b="1">
                <a:solidFill>
                  <a:srgbClr val="0A1F44"/>
                </a:solidFill>
                <a:latin typeface="Calibri"/>
              </a:rPr>
              <a:t>CLASSIFICATION  ·  INTERNAL</a:t>
            </a:r>
          </a:p>
        </p:txBody>
      </p:sp>
      <p:sp>
        <p:nvSpPr>
          <p:cNvPr id="3" name="TextBox 2"/>
          <p:cNvSpPr txBox="1"/>
          <p:nvPr/>
        </p:nvSpPr>
        <p:spPr>
          <a:xfrm>
            <a:off x="548640" y="1828800"/>
            <a:ext cx="10972800" cy="2286000"/>
          </a:xfrm>
          <a:prstGeom prst="rect">
            <a:avLst/>
          </a:prstGeom>
          <a:noFill/>
        </p:spPr>
        <p:txBody>
          <a:bodyPr wrap="square">
            <a:spAutoFit/>
          </a:bodyPr>
          <a:lstStyle/>
          <a:p>
            <a:pPr algn="l"/>
            <a:r>
              <a:rPr sz="4200" b="1">
                <a:solidFill>
                  <a:srgbClr val="0A1F44"/>
                </a:solidFill>
                <a:latin typeface="Georgia"/>
              </a:rPr>
              <a:t>Customer Status Report</a:t>
            </a:r>
          </a:p>
        </p:txBody>
      </p:sp>
      <p:sp>
        <p:nvSpPr>
          <p:cNvPr id="4" name="TextBox 3"/>
          <p:cNvSpPr txBox="1"/>
          <p:nvPr/>
        </p:nvSpPr>
        <p:spPr>
          <a:xfrm>
            <a:off x="548640" y="3383280"/>
            <a:ext cx="10972800" cy="914400"/>
          </a:xfrm>
          <a:prstGeom prst="rect">
            <a:avLst/>
          </a:prstGeom>
          <a:noFill/>
        </p:spPr>
        <p:txBody>
          <a:bodyPr wrap="square">
            <a:spAutoFit/>
          </a:bodyPr>
          <a:lstStyle/>
          <a:p>
            <a:pPr algn="l"/>
            <a:r>
              <a:rPr sz="2000" b="0">
                <a:solidFill>
                  <a:srgbClr val="4B5563"/>
                </a:solidFill>
                <a:latin typeface="Georgia"/>
              </a:rPr>
              <a:t>Q1 2025 Product Adoption and Operational Delivery</a:t>
            </a:r>
          </a:p>
        </p:txBody>
      </p:sp>
      <p:sp>
        <p:nvSpPr>
          <p:cNvPr id="5" name="TextBox 4"/>
          <p:cNvSpPr txBox="1"/>
          <p:nvPr/>
        </p:nvSpPr>
        <p:spPr>
          <a:xfrm>
            <a:off x="548640" y="6035040"/>
            <a:ext cx="10972800" cy="365760"/>
          </a:xfrm>
          <a:prstGeom prst="rect">
            <a:avLst/>
          </a:prstGeom>
          <a:noFill/>
        </p:spPr>
        <p:txBody>
          <a:bodyPr wrap="square">
            <a:spAutoFit/>
          </a:bodyPr>
          <a:lstStyle/>
          <a:p>
            <a:pPr algn="l"/>
            <a:r>
              <a:rPr sz="1100" b="0">
                <a:solidFill>
                  <a:srgbClr val="4B5563"/>
                </a:solidFill>
                <a:latin typeface="Calibri"/>
              </a:rPr>
              <a:t>Prepared for AKKI Context  ·  Q1 2025  ·  09 May 2026 · 17:14 UTC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3EA"/>
        </a:solidFill>
        <a:effectLst/>
      </p:bgPr>
    </p:bg>
    <p:spTree>
      <p:nvGrpSpPr>
        <p:cNvPr id="1" name=""/>
        <p:cNvGrpSpPr/>
        <p:nvPr/>
      </p:nvGrpSpPr>
      <p:grpSpPr/>
      <p:sp>
        <p:nvSpPr>
          <p:cNvPr id="2" name="TextBox 1"/>
          <p:cNvSpPr txBox="1"/>
          <p:nvPr/>
        </p:nvSpPr>
        <p:spPr>
          <a:xfrm>
            <a:off x="548640" y="457200"/>
            <a:ext cx="10972800" cy="457200"/>
          </a:xfrm>
          <a:prstGeom prst="rect">
            <a:avLst/>
          </a:prstGeom>
          <a:noFill/>
        </p:spPr>
        <p:txBody>
          <a:bodyPr wrap="square">
            <a:spAutoFit/>
          </a:bodyPr>
          <a:lstStyle/>
          <a:p>
            <a:pPr algn="l"/>
            <a:r>
              <a:rPr sz="1800" b="1">
                <a:solidFill>
                  <a:srgbClr val="0A1F44"/>
                </a:solidFill>
                <a:latin typeface="Calibri"/>
              </a:rPr>
              <a:t>Executive summary</a:t>
            </a:r>
          </a:p>
        </p:txBody>
      </p:sp>
      <p:sp>
        <p:nvSpPr>
          <p:cNvPr id="3" name="TextBox 2"/>
          <p:cNvSpPr txBox="1"/>
          <p:nvPr/>
        </p:nvSpPr>
        <p:spPr>
          <a:xfrm>
            <a:off x="548640" y="1280160"/>
            <a:ext cx="10972800" cy="5029200"/>
          </a:xfrm>
          <a:prstGeom prst="rect">
            <a:avLst/>
          </a:prstGeom>
          <a:noFill/>
        </p:spPr>
        <p:txBody>
          <a:bodyPr wrap="square">
            <a:spAutoFit/>
          </a:bodyPr>
          <a:lstStyle/>
          <a:p>
            <a:pPr algn="l"/>
            <a:r>
              <a:rPr sz="2000" b="0">
                <a:solidFill>
                  <a:srgbClr val="111827"/>
                </a:solidFill>
                <a:latin typeface="Georgia"/>
              </a:rPr>
              <a:t>Product adoption velocity and operational delivery quality exceeded expectations in Q1, with 73% of active clients migrating to v2.1 within the quarter and platform uptime reaching 99.81% against a 99.5% SLA. Banking and insurance sectors represent 68% of revenue, creating both regulatory compliance demand tailwinds and sector concentration risk.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3EA"/>
        </a:solidFill>
        <a:effectLst/>
      </p:bgPr>
    </p:bg>
    <p:spTree>
      <p:nvGrpSpPr>
        <p:cNvPr id="1" name=""/>
        <p:cNvGrpSpPr/>
        <p:nvPr/>
      </p:nvGrpSpPr>
      <p:grpSpPr/>
      <p:sp>
        <p:nvSpPr>
          <p:cNvPr id="2" name="TextBox 1"/>
          <p:cNvSpPr txBox="1"/>
          <p:nvPr/>
        </p:nvSpPr>
        <p:spPr>
          <a:xfrm>
            <a:off x="548640" y="457200"/>
            <a:ext cx="10972800" cy="640080"/>
          </a:xfrm>
          <a:prstGeom prst="rect">
            <a:avLst/>
          </a:prstGeom>
          <a:noFill/>
        </p:spPr>
        <p:txBody>
          <a:bodyPr wrap="square">
            <a:spAutoFit/>
          </a:bodyPr>
          <a:lstStyle/>
          <a:p>
            <a:pPr algn="l"/>
            <a:r>
              <a:rPr sz="2400" b="1">
                <a:solidFill>
                  <a:srgbClr val="0A1F44"/>
                </a:solidFill>
                <a:latin typeface="Calibri"/>
              </a:rPr>
              <a:t>Product Adoption Velocity</a:t>
            </a:r>
          </a:p>
        </p:txBody>
      </p:sp>
      <p:sp>
        <p:nvSpPr>
          <p:cNvPr id="3" name="TextBox 2"/>
          <p:cNvSpPr txBox="1"/>
          <p:nvPr/>
        </p:nvSpPr>
        <p:spPr>
          <a:xfrm>
            <a:off x="548640" y="1554480"/>
            <a:ext cx="10972800" cy="4114800"/>
          </a:xfrm>
          <a:prstGeom prst="rect">
            <a:avLst/>
          </a:prstGeom>
          <a:noFill/>
        </p:spPr>
        <p:txBody>
          <a:bodyPr wrap="square">
            <a:spAutoFit/>
          </a:bodyPr>
          <a:lstStyle/>
          <a:p>
            <a:pPr algn="l"/>
            <a:r>
              <a:rPr sz="1800" b="0">
                <a:solidFill>
                  <a:srgbClr val="111827"/>
                </a:solidFill>
                <a:latin typeface="Georgia"/>
              </a:rPr>
              <a:t>•  Eight of eleven active clients migrated to v2.1 within the quarter, representing 73% adoption of the major release that introduced real-time data ingestion, enhanced explainability dashboards, and latency improvements.</a:t>
            </a:r>
          </a:p>
          <a:p>
            <a:r>
              <a:t>•  Rapid migration indicates both product-market fit and client willingness to invest implementation resources in platform upgrades, though absolute customer count provides limited context without prior period comparison.</a:t>
            </a:r>
          </a:p>
          <a:p>
            <a:r>
              <a:t>•  The v2.1 release reduced model inference latency by 41%, from 1,840ms to 1,080ms average, targeting real-time customer verification workflows in banking and insurance applications.</a:t>
            </a:r>
          </a:p>
          <a:p>
            <a:r>
              <a:t>•  Explainability dashboards were cited as a differentiating factor in at least one banking customer procurement decision during Q1, aligning with regulatory guidance published by two African regulators on AI in credit decisioning.</a:t>
            </a:r>
          </a:p>
          <a:p/>
          <a:p>
            <a:r>
              <a:t>[2], [1], [4]</a:t>
            </a:r>
          </a:p>
        </p:txBody>
      </p:sp>
      <p:sp>
        <p:nvSpPr>
          <p:cNvPr id="4" name="TextBox 3"/>
          <p:cNvSpPr txBox="1"/>
          <p:nvPr/>
        </p:nvSpPr>
        <p:spPr>
          <a:xfrm>
            <a:off x="548640" y="5760720"/>
            <a:ext cx="10972800" cy="640080"/>
          </a:xfrm>
          <a:prstGeom prst="rect">
            <a:avLst/>
          </a:prstGeom>
          <a:noFill/>
        </p:spPr>
        <p:txBody>
          <a:bodyPr wrap="square">
            <a:spAutoFit/>
          </a:bodyPr>
          <a:lstStyle/>
          <a:p>
            <a:pPr algn="l"/>
            <a:r>
              <a:rPr sz="1400" b="0">
                <a:solidFill>
                  <a:srgbClr val="8B2E2B"/>
                </a:solidFill>
                <a:latin typeface="Georgia"/>
              </a:rPr>
              <a:t>“73% of active clients adopted v2.1 within the quarter”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3EA"/>
        </a:solidFill>
        <a:effectLst/>
      </p:bgPr>
    </p:bg>
    <p:spTree>
      <p:nvGrpSpPr>
        <p:cNvPr id="1" name=""/>
        <p:cNvGrpSpPr/>
        <p:nvPr/>
      </p:nvGrpSpPr>
      <p:grpSpPr/>
      <p:sp>
        <p:nvSpPr>
          <p:cNvPr id="2" name="TextBox 1"/>
          <p:cNvSpPr txBox="1"/>
          <p:nvPr/>
        </p:nvSpPr>
        <p:spPr>
          <a:xfrm>
            <a:off x="548640" y="457200"/>
            <a:ext cx="10972800" cy="640080"/>
          </a:xfrm>
          <a:prstGeom prst="rect">
            <a:avLst/>
          </a:prstGeom>
          <a:noFill/>
        </p:spPr>
        <p:txBody>
          <a:bodyPr wrap="square">
            <a:spAutoFit/>
          </a:bodyPr>
          <a:lstStyle/>
          <a:p>
            <a:pPr algn="l"/>
            <a:r>
              <a:rPr sz="2400" b="1">
                <a:solidFill>
                  <a:srgbClr val="0A1F44"/>
                </a:solidFill>
                <a:latin typeface="Calibri"/>
              </a:rPr>
              <a:t>Operational Delivery Performance</a:t>
            </a:r>
          </a:p>
        </p:txBody>
      </p:sp>
      <p:sp>
        <p:nvSpPr>
          <p:cNvPr id="3" name="TextBox 2"/>
          <p:cNvSpPr txBox="1"/>
          <p:nvPr/>
        </p:nvSpPr>
        <p:spPr>
          <a:xfrm>
            <a:off x="548640" y="1554480"/>
            <a:ext cx="10972800" cy="4114800"/>
          </a:xfrm>
          <a:prstGeom prst="rect">
            <a:avLst/>
          </a:prstGeom>
          <a:noFill/>
        </p:spPr>
        <p:txBody>
          <a:bodyPr wrap="square">
            <a:spAutoFit/>
          </a:bodyPr>
          <a:lstStyle/>
          <a:p>
            <a:pPr algn="l"/>
            <a:r>
              <a:rPr sz="1800" b="0">
                <a:solidFill>
                  <a:srgbClr val="111827"/>
                </a:solidFill>
                <a:latin typeface="Georgia"/>
              </a:rPr>
              <a:t>•  Platform uptime reached 99.81% in Q1 against a contractual SLA of 99.5%, exceeding committed service levels and providing headroom for capacity expansion.</a:t>
            </a:r>
          </a:p>
          <a:p>
            <a:r>
              <a:t>•  The 41% latency reduction brings average inference time to 1,080ms, though whether this meets user experience thresholds for real-time workflows depends on specific use cases and competitive benchmarks.</a:t>
            </a:r>
          </a:p>
          <a:p>
            <a:r>
              <a:t>•  Workforce expanded to 87 FTEs by end of Q1, adding 12 net employees against an 8-person plan, driven by accelerated client onboarding requirements that suggest demand outpacing initial capacity forecasts.</a:t>
            </a:r>
          </a:p>
          <a:p>
            <a:r>
              <a:t>•  Four employee departures in Q1 included two senior engineers to hyperscalers, creating potential delivery risk if attrition continues at this rate relative to headcount base.</a:t>
            </a:r>
          </a:p>
          <a:p/>
          <a:p>
            <a:r>
              <a:t>[1],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3EA"/>
        </a:solidFill>
        <a:effectLst/>
      </p:bgPr>
    </p:bg>
    <p:spTree>
      <p:nvGrpSpPr>
        <p:cNvPr id="1" name=""/>
        <p:cNvGrpSpPr/>
        <p:nvPr/>
      </p:nvGrpSpPr>
      <p:grpSpPr/>
      <p:sp>
        <p:nvSpPr>
          <p:cNvPr id="2" name="TextBox 1"/>
          <p:cNvSpPr txBox="1"/>
          <p:nvPr/>
        </p:nvSpPr>
        <p:spPr>
          <a:xfrm>
            <a:off x="548640" y="457200"/>
            <a:ext cx="10972800" cy="640080"/>
          </a:xfrm>
          <a:prstGeom prst="rect">
            <a:avLst/>
          </a:prstGeom>
          <a:noFill/>
        </p:spPr>
        <p:txBody>
          <a:bodyPr wrap="square">
            <a:spAutoFit/>
          </a:bodyPr>
          <a:lstStyle/>
          <a:p>
            <a:pPr algn="l"/>
            <a:r>
              <a:rPr sz="2400" b="1">
                <a:solidFill>
                  <a:srgbClr val="0A1F44"/>
                </a:solidFill>
                <a:latin typeface="Calibri"/>
              </a:rPr>
              <a:t>Revenue Composition and Sector Concentration</a:t>
            </a:r>
          </a:p>
        </p:txBody>
      </p:sp>
      <p:sp>
        <p:nvSpPr>
          <p:cNvPr id="3" name="TextBox 2"/>
          <p:cNvSpPr txBox="1"/>
          <p:nvPr/>
        </p:nvSpPr>
        <p:spPr>
          <a:xfrm>
            <a:off x="548640" y="1554480"/>
            <a:ext cx="10972800" cy="4114800"/>
          </a:xfrm>
          <a:prstGeom prst="rect">
            <a:avLst/>
          </a:prstGeom>
          <a:noFill/>
        </p:spPr>
        <p:txBody>
          <a:bodyPr wrap="square">
            <a:spAutoFit/>
          </a:bodyPr>
          <a:lstStyle/>
          <a:p>
            <a:pPr algn="l"/>
            <a:r>
              <a:rPr sz="1800" b="0">
                <a:solidFill>
                  <a:srgbClr val="111827"/>
                </a:solidFill>
                <a:latin typeface="Georgia"/>
              </a:rPr>
              <a:t>•  Banking and insurance together represent 68% of revenue, reflecting strong positioning in data-rich, regulation-driven sectors where compliance requirements create sustained demand.</a:t>
            </a:r>
          </a:p>
          <a:p>
            <a:r>
              <a:t>•  Sector concentration creates dual dynamics: regulatory scrutiny in these verticals acts as both a compliance demand tailwind and an implementation friction risk, particularly as KYC requirements evolve.</a:t>
            </a:r>
          </a:p>
          <a:p>
            <a:r>
              <a:t>•  The concentration in financial services aligns with the pipeline being described as the strongest observed to date, driven by demand for KYC, credit risk, and fraud detection applications from banks and insurers.</a:t>
            </a:r>
          </a:p>
          <a:p>
            <a:r>
              <a:t>•  A planned platform move toward mid-market segments represents diversification opportunity, though market validation remains untested as of Q1 close.</a:t>
            </a:r>
          </a:p>
          <a:p/>
          <a:p>
            <a:r>
              <a:t>[3], [2]</a:t>
            </a:r>
          </a:p>
        </p:txBody>
      </p:sp>
      <p:sp>
        <p:nvSpPr>
          <p:cNvPr id="4" name="TextBox 3"/>
          <p:cNvSpPr txBox="1"/>
          <p:nvPr/>
        </p:nvSpPr>
        <p:spPr>
          <a:xfrm>
            <a:off x="548640" y="5760720"/>
            <a:ext cx="10972800" cy="640080"/>
          </a:xfrm>
          <a:prstGeom prst="rect">
            <a:avLst/>
          </a:prstGeom>
          <a:noFill/>
        </p:spPr>
        <p:txBody>
          <a:bodyPr wrap="square">
            <a:spAutoFit/>
          </a:bodyPr>
          <a:lstStyle/>
          <a:p>
            <a:pPr algn="l"/>
            <a:r>
              <a:rPr sz="1400" b="0">
                <a:solidFill>
                  <a:srgbClr val="8B2E2B"/>
                </a:solidFill>
                <a:latin typeface="Georgia"/>
              </a:rPr>
              <a:t>“68% of revenue concentrated in banking and insurance sectors”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3EA"/>
        </a:solidFill>
        <a:effectLst/>
      </p:bgPr>
    </p:bg>
    <p:spTree>
      <p:nvGrpSpPr>
        <p:cNvPr id="1" name=""/>
        <p:cNvGrpSpPr/>
        <p:nvPr/>
      </p:nvGrpSpPr>
      <p:grpSpPr/>
      <p:sp>
        <p:nvSpPr>
          <p:cNvPr id="2" name="TextBox 1"/>
          <p:cNvSpPr txBox="1"/>
          <p:nvPr/>
        </p:nvSpPr>
        <p:spPr>
          <a:xfrm>
            <a:off x="548640" y="457200"/>
            <a:ext cx="10972800" cy="640080"/>
          </a:xfrm>
          <a:prstGeom prst="rect">
            <a:avLst/>
          </a:prstGeom>
          <a:noFill/>
        </p:spPr>
        <p:txBody>
          <a:bodyPr wrap="square">
            <a:spAutoFit/>
          </a:bodyPr>
          <a:lstStyle/>
          <a:p>
            <a:pPr algn="l"/>
            <a:r>
              <a:rPr sz="2400" b="1">
                <a:solidFill>
                  <a:srgbClr val="0A1F44"/>
                </a:solidFill>
                <a:latin typeface="Calibri"/>
              </a:rPr>
              <a:t>Customer Relationship Health</a:t>
            </a:r>
          </a:p>
        </p:txBody>
      </p:sp>
      <p:sp>
        <p:nvSpPr>
          <p:cNvPr id="3" name="TextBox 2"/>
          <p:cNvSpPr txBox="1"/>
          <p:nvPr/>
        </p:nvSpPr>
        <p:spPr>
          <a:xfrm>
            <a:off x="548640" y="1554480"/>
            <a:ext cx="10972800" cy="4114800"/>
          </a:xfrm>
          <a:prstGeom prst="rect">
            <a:avLst/>
          </a:prstGeom>
          <a:noFill/>
        </p:spPr>
        <p:txBody>
          <a:bodyPr wrap="square">
            <a:spAutoFit/>
          </a:bodyPr>
          <a:lstStyle/>
          <a:p>
            <a:pPr algn="l"/>
            <a:r>
              <a:rPr sz="1800" b="0">
                <a:solidFill>
                  <a:srgbClr val="111827"/>
                </a:solidFill>
                <a:latin typeface="Georgia"/>
              </a:rPr>
              <a:t>•  One client relationship requires management attention due to immature data governance processes creating friction in deployment and adoption workflows.</a:t>
            </a:r>
          </a:p>
          <a:p>
            <a:r>
              <a:t>•  The isolated health flag from a portfolio of eleven active clients suggests 9% of relationships face material operational challenges, though absence of systematic health scoring prevents portfolio-wide risk assessment.</a:t>
            </a:r>
          </a:p>
          <a:p>
            <a:r>
              <a:t>•  Data governance maturity requirements may narrow the addressable customer profile more than initially projected, as enterprise-grade infrastructure becomes a prerequisite for successful onboarding.</a:t>
            </a:r>
          </a:p>
          <a:p>
            <a:r>
              <a:t>•  SOC 2 audit scheduled for completion will function as a commercial catalyst, particularly for regulated financial services clients where certification gaps create procurement barriers.</a:t>
            </a:r>
          </a:p>
          <a:p/>
          <a:p>
            <a:r>
              <a:t>[3], [2]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3EA"/>
        </a:solidFill>
        <a:effectLst/>
      </p:bgPr>
    </p:bg>
    <p:spTree>
      <p:nvGrpSpPr>
        <p:cNvPr id="1" name=""/>
        <p:cNvGrpSpPr/>
        <p:nvPr/>
      </p:nvGrpSpPr>
      <p:grpSpPr/>
      <p:sp>
        <p:nvSpPr>
          <p:cNvPr id="2" name="TextBox 1"/>
          <p:cNvSpPr txBox="1"/>
          <p:nvPr/>
        </p:nvSpPr>
        <p:spPr>
          <a:xfrm>
            <a:off x="548640" y="457200"/>
            <a:ext cx="10972800" cy="640080"/>
          </a:xfrm>
          <a:prstGeom prst="rect">
            <a:avLst/>
          </a:prstGeom>
          <a:noFill/>
        </p:spPr>
        <p:txBody>
          <a:bodyPr wrap="square">
            <a:spAutoFit/>
          </a:bodyPr>
          <a:lstStyle/>
          <a:p>
            <a:pPr algn="l"/>
            <a:r>
              <a:rPr sz="2400" b="1">
                <a:solidFill>
                  <a:srgbClr val="0A1F44"/>
                </a:solidFill>
                <a:latin typeface="Calibri"/>
              </a:rPr>
              <a:t>Product Roadmap Alignment</a:t>
            </a:r>
          </a:p>
        </p:txBody>
      </p:sp>
      <p:sp>
        <p:nvSpPr>
          <p:cNvPr id="3" name="TextBox 2"/>
          <p:cNvSpPr txBox="1"/>
          <p:nvPr/>
        </p:nvSpPr>
        <p:spPr>
          <a:xfrm>
            <a:off x="548640" y="1554480"/>
            <a:ext cx="10972800" cy="4114800"/>
          </a:xfrm>
          <a:prstGeom prst="rect">
            <a:avLst/>
          </a:prstGeom>
          <a:noFill/>
        </p:spPr>
        <p:txBody>
          <a:bodyPr wrap="square">
            <a:spAutoFit/>
          </a:bodyPr>
          <a:lstStyle/>
          <a:p>
            <a:pPr algn="l"/>
            <a:r>
              <a:rPr sz="1800" b="0">
                <a:solidFill>
                  <a:srgbClr val="111827"/>
                </a:solidFill>
                <a:latin typeface="Georgia"/>
              </a:rPr>
              <a:t>•  Q2 multimodal document processing release targets unstructured identity and financial document analysis, addressing a capability gap in current customer workflows.</a:t>
            </a:r>
          </a:p>
          <a:p>
            <a:r>
              <a:t>•  The roadmap prioritization reflects customer demand signals from banking and insurance sectors where document verification remains a manual bottleneck in onboarding and compliance processes.</a:t>
            </a:r>
          </a:p>
          <a:p>
            <a:r>
              <a:t>•  Real-time API ingestion capabilities delivered in v2.1 position the platform for integration into live transaction monitoring systems, expanding use case applicability beyond batch processing workflows.</a:t>
            </a:r>
          </a:p>
          <a:p>
            <a:r>
              <a:t>•  Explainability enhancements directly respond to regulatory developments, with two African regulators publishing guidance on AI in credit decisioning during Q1 that influenced at least one procurement outcome.</a:t>
            </a:r>
          </a:p>
          <a:p/>
          <a:p>
            <a:r>
              <a:t>[1], [2]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3EA"/>
        </a:solidFill>
        <a:effectLst/>
      </p:bgPr>
    </p:bg>
    <p:spTree>
      <p:nvGrpSpPr>
        <p:cNvPr id="1" name=""/>
        <p:cNvGrpSpPr/>
        <p:nvPr/>
      </p:nvGrpSpPr>
      <p:grpSpPr/>
      <p:sp>
        <p:nvSpPr>
          <p:cNvPr id="2" name="TextBox 1"/>
          <p:cNvSpPr txBox="1"/>
          <p:nvPr/>
        </p:nvSpPr>
        <p:spPr>
          <a:xfrm>
            <a:off x="548640" y="457200"/>
            <a:ext cx="10972800" cy="640080"/>
          </a:xfrm>
          <a:prstGeom prst="rect">
            <a:avLst/>
          </a:prstGeom>
          <a:noFill/>
        </p:spPr>
        <p:txBody>
          <a:bodyPr wrap="square">
            <a:spAutoFit/>
          </a:bodyPr>
          <a:lstStyle/>
          <a:p>
            <a:pPr algn="l"/>
            <a:r>
              <a:rPr sz="2400" b="1">
                <a:solidFill>
                  <a:srgbClr val="0A1F44"/>
                </a:solidFill>
                <a:latin typeface="Calibri"/>
              </a:rPr>
              <a:t>Operational Readiness for Growth</a:t>
            </a:r>
          </a:p>
        </p:txBody>
      </p:sp>
      <p:sp>
        <p:nvSpPr>
          <p:cNvPr id="3" name="TextBox 2"/>
          <p:cNvSpPr txBox="1"/>
          <p:nvPr/>
        </p:nvSpPr>
        <p:spPr>
          <a:xfrm>
            <a:off x="548640" y="1554480"/>
            <a:ext cx="10972800" cy="4114800"/>
          </a:xfrm>
          <a:prstGeom prst="rect">
            <a:avLst/>
          </a:prstGeom>
          <a:noFill/>
        </p:spPr>
        <p:txBody>
          <a:bodyPr wrap="square">
            <a:spAutoFit/>
          </a:bodyPr>
          <a:lstStyle/>
          <a:p>
            <a:pPr algn="l"/>
            <a:r>
              <a:rPr sz="1800" b="0">
                <a:solidFill>
                  <a:srgbClr val="111827"/>
                </a:solidFill>
                <a:latin typeface="Georgia"/>
              </a:rPr>
              <a:t>•  Hiring acceleration beyond plan (12 vs 8 FTEs) indicates either confidence in near-term pipeline conversion or reactive scaling to meet existing customer delivery demands that exceeded capacity forecasts.</a:t>
            </a:r>
          </a:p>
          <a:p>
            <a:r>
              <a:t>•  The geographic distribution shows 71 FTEs in primary market and 16 in secondary market, predominantly in sales and client success functions, aligning with go-to-market expansion priorities.</a:t>
            </a:r>
          </a:p>
          <a:p>
            <a:r>
              <a:t>•  Attrition to hyperscalers at senior engineering levels creates knowledge retention risk and suggests compensation or career development gaps relative to well-capitalized competitors.</a:t>
            </a:r>
          </a:p>
          <a:p>
            <a:r>
              <a:t>•  The combination of accelerated hiring and elevated attrition requires close monitoring to ensure delivery quality doesn't degrade as customer base scales, particularly given the 99.81% uptime benchmark established in Q1.</a:t>
            </a:r>
          </a:p>
          <a:p/>
          <a:p>
            <a:r>
              <a:t>[2]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F44"/>
        </a:solidFill>
        <a:effectLst/>
      </p:bgPr>
    </p:bg>
    <p:spTree>
      <p:nvGrpSpPr>
        <p:cNvPr id="1" name=""/>
        <p:cNvGrpSpPr/>
        <p:nvPr/>
      </p:nvGrpSpPr>
      <p:grpSpPr/>
      <p:sp>
        <p:nvSpPr>
          <p:cNvPr id="2" name="TextBox 1"/>
          <p:cNvSpPr txBox="1"/>
          <p:nvPr/>
        </p:nvSpPr>
        <p:spPr>
          <a:xfrm>
            <a:off x="548640" y="457200"/>
            <a:ext cx="10972800" cy="640080"/>
          </a:xfrm>
          <a:prstGeom prst="rect">
            <a:avLst/>
          </a:prstGeom>
          <a:noFill/>
        </p:spPr>
        <p:txBody>
          <a:bodyPr wrap="square">
            <a:spAutoFit/>
          </a:bodyPr>
          <a:lstStyle/>
          <a:p>
            <a:pPr algn="l"/>
            <a:r>
              <a:rPr sz="2200" b="1">
                <a:solidFill>
                  <a:srgbClr val="F7F3EA"/>
                </a:solidFill>
                <a:latin typeface="Calibri"/>
              </a:rPr>
              <a:t>What this means</a:t>
            </a:r>
          </a:p>
        </p:txBody>
      </p:sp>
      <p:sp>
        <p:nvSpPr>
          <p:cNvPr id="3" name="TextBox 2"/>
          <p:cNvSpPr txBox="1"/>
          <p:nvPr/>
        </p:nvSpPr>
        <p:spPr>
          <a:xfrm>
            <a:off x="548640" y="1554480"/>
            <a:ext cx="10972800" cy="4114800"/>
          </a:xfrm>
          <a:prstGeom prst="rect">
            <a:avLst/>
          </a:prstGeom>
          <a:noFill/>
        </p:spPr>
        <p:txBody>
          <a:bodyPr wrap="square">
            <a:spAutoFit/>
          </a:bodyPr>
          <a:lstStyle/>
          <a:p>
            <a:pPr algn="l"/>
            <a:r>
              <a:rPr sz="2200" b="0">
                <a:solidFill>
                  <a:srgbClr val="F7F3EA"/>
                </a:solidFill>
                <a:latin typeface="Georgia"/>
              </a:rPr>
              <a:t>Operational metrics and product adoption rates demonstrate delivery capability, though systematic customer growth measurement remains necessary for complete portfolio assessment.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3EA"/>
        </a:solidFill>
        <a:effectLst/>
      </p:bgPr>
    </p:bg>
    <p:spTree>
      <p:nvGrpSpPr>
        <p:cNvPr id="1" name=""/>
        <p:cNvGrpSpPr/>
        <p:nvPr/>
      </p:nvGrpSpPr>
      <p:grpSpPr/>
      <p:sp>
        <p:nvSpPr>
          <p:cNvPr id="2" name="TextBox 1"/>
          <p:cNvSpPr txBox="1"/>
          <p:nvPr/>
        </p:nvSpPr>
        <p:spPr>
          <a:xfrm>
            <a:off x="548640" y="457200"/>
            <a:ext cx="10972800" cy="640080"/>
          </a:xfrm>
          <a:prstGeom prst="rect">
            <a:avLst/>
          </a:prstGeom>
          <a:noFill/>
        </p:spPr>
        <p:txBody>
          <a:bodyPr wrap="square">
            <a:spAutoFit/>
          </a:bodyPr>
          <a:lstStyle/>
          <a:p>
            <a:pPr algn="l"/>
            <a:r>
              <a:rPr sz="2200" b="1">
                <a:solidFill>
                  <a:srgbClr val="0A1F44"/>
                </a:solidFill>
                <a:latin typeface="Calibri"/>
              </a:rPr>
              <a:t>Sources</a:t>
            </a:r>
          </a:p>
        </p:txBody>
      </p:sp>
      <p:sp>
        <p:nvSpPr>
          <p:cNvPr id="3" name="TextBox 2"/>
          <p:cNvSpPr txBox="1"/>
          <p:nvPr/>
        </p:nvSpPr>
        <p:spPr>
          <a:xfrm>
            <a:off x="548640" y="1554480"/>
            <a:ext cx="10972800" cy="4572000"/>
          </a:xfrm>
          <a:prstGeom prst="rect">
            <a:avLst/>
          </a:prstGeom>
          <a:noFill/>
        </p:spPr>
        <p:txBody>
          <a:bodyPr wrap="square">
            <a:spAutoFit/>
          </a:bodyPr>
          <a:lstStyle/>
          <a:p>
            <a:pPr algn="l"/>
            <a:r>
              <a:rPr sz="1400" b="0">
                <a:solidFill>
                  <a:srgbClr val="111827"/>
                </a:solidFill>
                <a:latin typeface="Calibri"/>
              </a:rPr>
              <a:t>[1]  q1-2025-product-market-position.docx</a:t>
            </a:r>
          </a:p>
          <a:p>
            <a:r>
              <a:t>[2]  lemasy_ceo_report_q1_2025</a:t>
            </a:r>
          </a:p>
          <a:p>
            <a:r>
              <a:t>[3]  lemasy_customer_report_q1_2025</a:t>
            </a:r>
          </a:p>
          <a:p>
            <a:r>
              <a:t>[4]  lemasy_strategic_report_fy2025_2027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