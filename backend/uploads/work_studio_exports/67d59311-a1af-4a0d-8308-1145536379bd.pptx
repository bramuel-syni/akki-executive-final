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3EA"/>
        </a:solidFill>
        <a:effectLst/>
      </p:bgPr>
    </p:bg>
    <p:spTree>
      <p:nvGrpSpPr>
        <p:cNvPr id="1" name=""/>
        <p:cNvGrpSpPr/>
        <p:nvPr/>
      </p:nvGrpSpPr>
      <p:grpSpPr/>
      <p:sp>
        <p:nvSpPr>
          <p:cNvPr id="2" name="TextBox 1"/>
          <p:cNvSpPr txBox="1"/>
          <p:nvPr/>
        </p:nvSpPr>
        <p:spPr>
          <a:xfrm>
            <a:off x="548640" y="365760"/>
            <a:ext cx="10972800" cy="365760"/>
          </a:xfrm>
          <a:prstGeom prst="rect">
            <a:avLst/>
          </a:prstGeom>
          <a:noFill/>
        </p:spPr>
        <p:txBody>
          <a:bodyPr wrap="square">
            <a:spAutoFit/>
          </a:bodyPr>
          <a:lstStyle/>
          <a:p>
            <a:pPr algn="l"/>
            <a:r>
              <a:rPr sz="1000" b="1">
                <a:solidFill>
                  <a:srgbClr val="0A1F44"/>
                </a:solidFill>
                <a:latin typeface="Calibri"/>
              </a:rPr>
              <a:t>CLASSIFICATION  ·  INTERNAL</a:t>
            </a:r>
          </a:p>
        </p:txBody>
      </p:sp>
      <p:sp>
        <p:nvSpPr>
          <p:cNvPr id="3" name="TextBox 2"/>
          <p:cNvSpPr txBox="1"/>
          <p:nvPr/>
        </p:nvSpPr>
        <p:spPr>
          <a:xfrm>
            <a:off x="548640" y="1828800"/>
            <a:ext cx="10972800" cy="2286000"/>
          </a:xfrm>
          <a:prstGeom prst="rect">
            <a:avLst/>
          </a:prstGeom>
          <a:noFill/>
        </p:spPr>
        <p:txBody>
          <a:bodyPr wrap="square">
            <a:spAutoFit/>
          </a:bodyPr>
          <a:lstStyle/>
          <a:p>
            <a:pPr algn="l"/>
            <a:r>
              <a:rPr sz="4200" b="1">
                <a:solidFill>
                  <a:srgbClr val="0A1F44"/>
                </a:solidFill>
                <a:latin typeface="Georgia"/>
              </a:rPr>
              <a:t>Lemasy Markets and Client Performance Analysis</a:t>
            </a:r>
          </a:p>
        </p:txBody>
      </p:sp>
      <p:sp>
        <p:nvSpPr>
          <p:cNvPr id="4" name="TextBox 3"/>
          <p:cNvSpPr txBox="1"/>
          <p:nvPr/>
        </p:nvSpPr>
        <p:spPr>
          <a:xfrm>
            <a:off x="548640" y="3383280"/>
            <a:ext cx="10972800" cy="914400"/>
          </a:xfrm>
          <a:prstGeom prst="rect">
            <a:avLst/>
          </a:prstGeom>
          <a:noFill/>
        </p:spPr>
        <p:txBody>
          <a:bodyPr wrap="square">
            <a:spAutoFit/>
          </a:bodyPr>
          <a:lstStyle/>
          <a:p>
            <a:pPr algn="l"/>
            <a:r>
              <a:rPr sz="2000" b="0">
                <a:solidFill>
                  <a:srgbClr val="4B5563"/>
                </a:solidFill>
                <a:latin typeface="Georgia"/>
              </a:rPr>
              <a:t>Q1 2025 Revenue Growth, Market Structure, and Competitive Positioning in African Financial Services</a:t>
            </a:r>
          </a:p>
        </p:txBody>
      </p:sp>
      <p:sp>
        <p:nvSpPr>
          <p:cNvPr id="5" name="TextBox 4"/>
          <p:cNvSpPr txBox="1"/>
          <p:nvPr/>
        </p:nvSpPr>
        <p:spPr>
          <a:xfrm>
            <a:off x="548640" y="6035040"/>
            <a:ext cx="10972800" cy="365760"/>
          </a:xfrm>
          <a:prstGeom prst="rect">
            <a:avLst/>
          </a:prstGeom>
          <a:noFill/>
        </p:spPr>
        <p:txBody>
          <a:bodyPr wrap="square">
            <a:spAutoFit/>
          </a:bodyPr>
          <a:lstStyle/>
          <a:p>
            <a:pPr algn="l"/>
            <a:r>
              <a:rPr sz="1100" b="0">
                <a:solidFill>
                  <a:srgbClr val="4B5563"/>
                </a:solidFill>
                <a:latin typeface="Calibri"/>
              </a:rPr>
              <a:t>Prepared for Diagnostic option-A repro: Direct-stream failover verification  ·  Q1 2025 (January–March 2025)  ·  09 May 2026 · 19:12 UTC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3EA"/>
        </a:solidFill>
        <a:effectLst/>
      </p:bgPr>
    </p:bg>
    <p:spTree>
      <p:nvGrpSpPr>
        <p:cNvPr id="1" name=""/>
        <p:cNvGrpSpPr/>
        <p:nvPr/>
      </p:nvGrpSpPr>
      <p:grpSpPr/>
      <p:sp>
        <p:nvSpPr>
          <p:cNvPr id="2" name="TextBox 1"/>
          <p:cNvSpPr txBox="1"/>
          <p:nvPr/>
        </p:nvSpPr>
        <p:spPr>
          <a:xfrm>
            <a:off x="548640" y="457200"/>
            <a:ext cx="10972800" cy="457200"/>
          </a:xfrm>
          <a:prstGeom prst="rect">
            <a:avLst/>
          </a:prstGeom>
          <a:noFill/>
        </p:spPr>
        <p:txBody>
          <a:bodyPr wrap="square">
            <a:spAutoFit/>
          </a:bodyPr>
          <a:lstStyle/>
          <a:p>
            <a:pPr algn="l"/>
            <a:r>
              <a:rPr sz="1800" b="1">
                <a:solidFill>
                  <a:srgbClr val="0A1F44"/>
                </a:solidFill>
                <a:latin typeface="Calibri"/>
              </a:rPr>
              <a:t>Executive summary</a:t>
            </a:r>
          </a:p>
        </p:txBody>
      </p:sp>
      <p:sp>
        <p:nvSpPr>
          <p:cNvPr id="3" name="TextBox 2"/>
          <p:cNvSpPr txBox="1"/>
          <p:nvPr/>
        </p:nvSpPr>
        <p:spPr>
          <a:xfrm>
            <a:off x="548640" y="1280160"/>
            <a:ext cx="10972800" cy="5029200"/>
          </a:xfrm>
          <a:prstGeom prst="rect">
            <a:avLst/>
          </a:prstGeom>
          <a:noFill/>
        </p:spPr>
        <p:txBody>
          <a:bodyPr wrap="square">
            <a:spAutoFit/>
          </a:bodyPr>
          <a:lstStyle/>
          <a:p>
            <a:pPr algn="l"/>
            <a:r>
              <a:rPr sz="2000" b="0">
                <a:solidFill>
                  <a:srgbClr val="111827"/>
                </a:solidFill>
                <a:latin typeface="Georgia"/>
              </a:rPr>
              <a:t>Lemasy recorded USD 2.14M in Q1 2025 billings, exceeding the USD 2M quarterly threshold for the first time and achieving 34.6% year-on-year growth. The company operates across two African markets with distinct performance profiles, though complete market-level revenue and margin data is not available in current reporting.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3EA"/>
        </a:solidFill>
        <a:effectLst/>
      </p:bgPr>
    </p:bg>
    <p:spTree>
      <p:nvGrpSpPr>
        <p:cNvPr id="1" name=""/>
        <p:cNvGrpSpPr/>
        <p:nvPr/>
      </p:nvGrpSpPr>
      <p:grpSpPr/>
      <p:sp>
        <p:nvSpPr>
          <p:cNvPr id="2" name="TextBox 1"/>
          <p:cNvSpPr txBox="1"/>
          <p:nvPr/>
        </p:nvSpPr>
        <p:spPr>
          <a:xfrm>
            <a:off x="548640" y="457200"/>
            <a:ext cx="10972800" cy="640080"/>
          </a:xfrm>
          <a:prstGeom prst="rect">
            <a:avLst/>
          </a:prstGeom>
          <a:noFill/>
        </p:spPr>
        <p:txBody>
          <a:bodyPr wrap="square">
            <a:spAutoFit/>
          </a:bodyPr>
          <a:lstStyle/>
          <a:p>
            <a:pPr algn="l"/>
            <a:r>
              <a:rPr sz="2400" b="1">
                <a:solidFill>
                  <a:srgbClr val="0A1F44"/>
                </a:solidFill>
                <a:latin typeface="Calibri"/>
              </a:rPr>
              <a:t>Aggregate Financial Performance</a:t>
            </a:r>
          </a:p>
        </p:txBody>
      </p:sp>
      <p:sp>
        <p:nvSpPr>
          <p:cNvPr id="3" name="TextBox 2"/>
          <p:cNvSpPr txBox="1"/>
          <p:nvPr/>
        </p:nvSpPr>
        <p:spPr>
          <a:xfrm>
            <a:off x="548640" y="1554480"/>
            <a:ext cx="10972800" cy="4114800"/>
          </a:xfrm>
          <a:prstGeom prst="rect">
            <a:avLst/>
          </a:prstGeom>
          <a:noFill/>
        </p:spPr>
        <p:txBody>
          <a:bodyPr wrap="square">
            <a:spAutoFit/>
          </a:bodyPr>
          <a:lstStyle/>
          <a:p>
            <a:pPr algn="l"/>
            <a:r>
              <a:rPr sz="1800" b="0">
                <a:solidFill>
                  <a:srgbClr val="111827"/>
                </a:solidFill>
                <a:latin typeface="Georgia"/>
              </a:rPr>
              <a:t>•  Q1 2025 billings reached USD 2.14M, representing 18.9% outperformance against plan and 34.6% growth over Q1 2024. This marked the first quarter in company history to exceed USD 2M in revenue.</a:t>
            </a:r>
          </a:p>
          <a:p>
            <a:r>
              <a:t>•  Annual Recurring Revenue base expanded during the quarter, though absolute ARR figures are not disclosed in available reporting. The quarterly performance establishes a new baseline above USD 8M annualized run rate.</a:t>
            </a:r>
          </a:p>
          <a:p>
            <a:r>
              <a:t>•  Revenue growth was achieved while crossing a significant psychological and operational milestone, indicating the business has reached a scale that supports more predictable planning and resource deployment.</a:t>
            </a:r>
          </a:p>
          <a:p/>
          <a:p>
            <a:r>
              <a:t>[1],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3EA"/>
        </a:solidFill>
        <a:effectLst/>
      </p:bgPr>
    </p:bg>
    <p:spTree>
      <p:nvGrpSpPr>
        <p:cNvPr id="1" name=""/>
        <p:cNvGrpSpPr/>
        <p:nvPr/>
      </p:nvGrpSpPr>
      <p:grpSpPr/>
      <p:sp>
        <p:nvSpPr>
          <p:cNvPr id="2" name="TextBox 1"/>
          <p:cNvSpPr txBox="1"/>
          <p:nvPr/>
        </p:nvSpPr>
        <p:spPr>
          <a:xfrm>
            <a:off x="548640" y="457200"/>
            <a:ext cx="10972800" cy="640080"/>
          </a:xfrm>
          <a:prstGeom prst="rect">
            <a:avLst/>
          </a:prstGeom>
          <a:noFill/>
        </p:spPr>
        <p:txBody>
          <a:bodyPr wrap="square">
            <a:spAutoFit/>
          </a:bodyPr>
          <a:lstStyle/>
          <a:p>
            <a:pPr algn="l"/>
            <a:r>
              <a:rPr sz="2400" b="1">
                <a:solidFill>
                  <a:srgbClr val="0A1F44"/>
                </a:solidFill>
                <a:latin typeface="Calibri"/>
              </a:rPr>
              <a:t>Market Structure and Geographic Performance</a:t>
            </a:r>
          </a:p>
        </p:txBody>
      </p:sp>
      <p:sp>
        <p:nvSpPr>
          <p:cNvPr id="3" name="TextBox 2"/>
          <p:cNvSpPr txBox="1"/>
          <p:nvPr/>
        </p:nvSpPr>
        <p:spPr>
          <a:xfrm>
            <a:off x="548640" y="1554480"/>
            <a:ext cx="10972800" cy="4114800"/>
          </a:xfrm>
          <a:prstGeom prst="rect">
            <a:avLst/>
          </a:prstGeom>
          <a:noFill/>
        </p:spPr>
        <p:txBody>
          <a:bodyPr wrap="square">
            <a:spAutoFit/>
          </a:bodyPr>
          <a:lstStyle/>
          <a:p>
            <a:pPr algn="l"/>
            <a:r>
              <a:rPr sz="1800" b="0">
                <a:solidFill>
                  <a:srgbClr val="111827"/>
                </a:solidFill>
                <a:latin typeface="Georgia"/>
              </a:rPr>
              <a:t>•  Lemasy operates across two primary African markets with distinct performance characteristics. Available data shows the first market achieved 68.4% performance on an unspecified metric, likely gross margin based on context.</a:t>
            </a:r>
          </a:p>
          <a:p>
            <a:r>
              <a:t>•  Complete market-level revenue splits, the second market's margin profile, and geographic contribution percentages are not present in current reporting. This limits the ability to assess relative market strength or optimize resource allocation between geographies.</a:t>
            </a:r>
          </a:p>
          <a:p>
            <a:r>
              <a:t>•  The two-market structure appears deliberate rather than opportunistic, with each market serving different segments of the African financial services sector including banks, insurers, telecoms, and fintechs.</a:t>
            </a:r>
          </a:p>
          <a:p/>
          <a:p>
            <a:r>
              <a:t>[1],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3EA"/>
        </a:solidFill>
        <a:effectLst/>
      </p:bgPr>
    </p:bg>
    <p:spTree>
      <p:nvGrpSpPr>
        <p:cNvPr id="1" name=""/>
        <p:cNvGrpSpPr/>
        <p:nvPr/>
      </p:nvGrpSpPr>
      <p:grpSpPr/>
      <p:sp>
        <p:nvSpPr>
          <p:cNvPr id="2" name="TextBox 1"/>
          <p:cNvSpPr txBox="1"/>
          <p:nvPr/>
        </p:nvSpPr>
        <p:spPr>
          <a:xfrm>
            <a:off x="548640" y="457200"/>
            <a:ext cx="10972800" cy="640080"/>
          </a:xfrm>
          <a:prstGeom prst="rect">
            <a:avLst/>
          </a:prstGeom>
          <a:noFill/>
        </p:spPr>
        <p:txBody>
          <a:bodyPr wrap="square">
            <a:spAutoFit/>
          </a:bodyPr>
          <a:lstStyle/>
          <a:p>
            <a:pPr algn="l"/>
            <a:r>
              <a:rPr sz="2400" b="1">
                <a:solidFill>
                  <a:srgbClr val="0A1F44"/>
                </a:solidFill>
                <a:latin typeface="Calibri"/>
              </a:rPr>
              <a:t>Strategic Positioning and Competitive Dynamics</a:t>
            </a:r>
          </a:p>
        </p:txBody>
      </p:sp>
      <p:sp>
        <p:nvSpPr>
          <p:cNvPr id="3" name="TextBox 2"/>
          <p:cNvSpPr txBox="1"/>
          <p:nvPr/>
        </p:nvSpPr>
        <p:spPr>
          <a:xfrm>
            <a:off x="548640" y="1554480"/>
            <a:ext cx="10972800" cy="4114800"/>
          </a:xfrm>
          <a:prstGeom prst="rect">
            <a:avLst/>
          </a:prstGeom>
          <a:noFill/>
        </p:spPr>
        <p:txBody>
          <a:bodyPr wrap="square">
            <a:spAutoFit/>
          </a:bodyPr>
          <a:lstStyle/>
          <a:p>
            <a:pPr algn="l"/>
            <a:r>
              <a:rPr sz="1800" b="0">
                <a:solidFill>
                  <a:srgbClr val="111827"/>
                </a:solidFill>
                <a:latin typeface="Georgia"/>
              </a:rPr>
              <a:t>•  Lemasy competes by solving a data-to-intelligence problem specific to African financial institutions: converting high-volume transactional and behavioral data into actionable intelligence using locally trained models and regulatory alignment that international vendors cannot replicate.</a:t>
            </a:r>
          </a:p>
          <a:p>
            <a:r>
              <a:t>•  In active RFP processes, Lemasy faces global AI vendors and regional competitors but positions on three advantages: superior domain expertise in African financial data, faster implementation timelines, and better price-to-performance ratios compared to Fortune 500-targeted platforms.</a:t>
            </a:r>
          </a:p>
          <a:p>
            <a:r>
              <a:t>•  The competitive moat rests on local training data and regulatory knowledge rather than general-purpose AI capabilities. International vendors offer platforms not trained on African financial data and priced for budgets that exceed most regional institutions' capacity.</a:t>
            </a:r>
          </a:p>
          <a:p>
            <a:r>
              <a:t>•  Client engagement includes comparative evaluations where prospects assess Lemasy against multiple global and regional alternatives, indicating the company has achieved credibility to be evaluated alongside established international brands.</a:t>
            </a:r>
          </a:p>
          <a:p/>
          <a:p>
            <a:r>
              <a:t>[4],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3EA"/>
        </a:solidFill>
        <a:effectLst/>
      </p:bgPr>
    </p:bg>
    <p:spTree>
      <p:nvGrpSpPr>
        <p:cNvPr id="1" name=""/>
        <p:cNvGrpSpPr/>
        <p:nvPr/>
      </p:nvGrpSpPr>
      <p:grpSpPr/>
      <p:sp>
        <p:nvSpPr>
          <p:cNvPr id="2" name="TextBox 1"/>
          <p:cNvSpPr txBox="1"/>
          <p:nvPr/>
        </p:nvSpPr>
        <p:spPr>
          <a:xfrm>
            <a:off x="548640" y="457200"/>
            <a:ext cx="10972800" cy="640080"/>
          </a:xfrm>
          <a:prstGeom prst="rect">
            <a:avLst/>
          </a:prstGeom>
          <a:noFill/>
        </p:spPr>
        <p:txBody>
          <a:bodyPr wrap="square">
            <a:spAutoFit/>
          </a:bodyPr>
          <a:lstStyle/>
          <a:p>
            <a:pPr algn="l"/>
            <a:r>
              <a:rPr sz="2400" b="1">
                <a:solidFill>
                  <a:srgbClr val="0A1F44"/>
                </a:solidFill>
                <a:latin typeface="Calibri"/>
              </a:rPr>
              <a:t>Operational Delivery and Market Approach</a:t>
            </a:r>
          </a:p>
        </p:txBody>
      </p:sp>
      <p:sp>
        <p:nvSpPr>
          <p:cNvPr id="3" name="TextBox 2"/>
          <p:cNvSpPr txBox="1"/>
          <p:nvPr/>
        </p:nvSpPr>
        <p:spPr>
          <a:xfrm>
            <a:off x="548640" y="1554480"/>
            <a:ext cx="10972800" cy="4114800"/>
          </a:xfrm>
          <a:prstGeom prst="rect">
            <a:avLst/>
          </a:prstGeom>
          <a:noFill/>
        </p:spPr>
        <p:txBody>
          <a:bodyPr wrap="square">
            <a:spAutoFit/>
          </a:bodyPr>
          <a:lstStyle/>
          <a:p>
            <a:pPr algn="l"/>
            <a:r>
              <a:rPr sz="1800" b="0">
                <a:solidFill>
                  <a:srgbClr val="111827"/>
                </a:solidFill>
                <a:latin typeface="Georgia"/>
              </a:rPr>
              <a:t>•  Technical delivery capability and faster implementation timelines are explicitly cited as competitive differentiators in client evaluations. This suggests operational execution is a material component of market performance, not just product functionality.</a:t>
            </a:r>
          </a:p>
          <a:p>
            <a:r>
              <a:t>•  The CEO is directly involved in commercial engagements and technical demonstrations for strategic opportunities, indicating a hands-on approach to client acquisition in the current growth stage.</a:t>
            </a:r>
          </a:p>
          <a:p>
            <a:r>
              <a:t>•  Product positioning emphasizes regulatory alignment and operational delivery alongside technical capabilities, reflecting the practical constraints African financial institutions face when adopting AI platforms.</a:t>
            </a:r>
          </a:p>
          <a:p/>
          <a:p>
            <a:r>
              <a:t>[5], [3]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3EA"/>
        </a:solidFill>
        <a:effectLst/>
      </p:bgPr>
    </p:bg>
    <p:spTree>
      <p:nvGrpSpPr>
        <p:cNvPr id="1" name=""/>
        <p:cNvGrpSpPr/>
        <p:nvPr/>
      </p:nvGrpSpPr>
      <p:grpSpPr/>
      <p:sp>
        <p:nvSpPr>
          <p:cNvPr id="2" name="TextBox 1"/>
          <p:cNvSpPr txBox="1"/>
          <p:nvPr/>
        </p:nvSpPr>
        <p:spPr>
          <a:xfrm>
            <a:off x="548640" y="457200"/>
            <a:ext cx="10972800" cy="640080"/>
          </a:xfrm>
          <a:prstGeom prst="rect">
            <a:avLst/>
          </a:prstGeom>
          <a:noFill/>
        </p:spPr>
        <p:txBody>
          <a:bodyPr wrap="square">
            <a:spAutoFit/>
          </a:bodyPr>
          <a:lstStyle/>
          <a:p>
            <a:pPr algn="l"/>
            <a:r>
              <a:rPr sz="2400" b="1">
                <a:solidFill>
                  <a:srgbClr val="0A1F44"/>
                </a:solidFill>
                <a:latin typeface="Calibri"/>
              </a:rPr>
              <a:t>Performance Measurement and Gaps in Current Reporting</a:t>
            </a:r>
          </a:p>
        </p:txBody>
      </p:sp>
      <p:sp>
        <p:nvSpPr>
          <p:cNvPr id="3" name="TextBox 2"/>
          <p:cNvSpPr txBox="1"/>
          <p:nvPr/>
        </p:nvSpPr>
        <p:spPr>
          <a:xfrm>
            <a:off x="548640" y="1554480"/>
            <a:ext cx="10972800" cy="4114800"/>
          </a:xfrm>
          <a:prstGeom prst="rect">
            <a:avLst/>
          </a:prstGeom>
          <a:noFill/>
        </p:spPr>
        <p:txBody>
          <a:bodyPr wrap="square">
            <a:spAutoFit/>
          </a:bodyPr>
          <a:lstStyle/>
          <a:p>
            <a:pPr algn="l"/>
            <a:r>
              <a:rPr sz="1800" b="0">
                <a:solidFill>
                  <a:srgbClr val="111827"/>
                </a:solidFill>
                <a:latin typeface="Georgia"/>
              </a:rPr>
              <a:t>•  A formal CEO performance scorecard framework exists with threshold, target, and stretch scoring across weighted KPI pillars, but specific scores and detailed performance metrics are not disclosed in available documentation.</a:t>
            </a:r>
          </a:p>
          <a:p>
            <a:r>
              <a:t>•  Client-level performance data is absent from current reporting despite 'Client Performance Analysis' appearing in document titles. No metrics on logo count, client concentration, cohort retention, or revenue per client are available.</a:t>
            </a:r>
          </a:p>
          <a:p>
            <a:r>
              <a:t>•  Market-level revenue decomposition, product mix by geography, and client segment performance remain unquantified. This limits strategic insight into which markets, products, or client types are driving aggregate growth.</a:t>
            </a:r>
          </a:p>
          <a:p/>
          <a:p>
            <a:r>
              <a:t>[1], [6]</a:t>
            </a:r>
          </a:p>
        </p:txBody>
      </p:sp>
      <p:sp>
        <p:nvSpPr>
          <p:cNvPr id="4" name="TextBox 3"/>
          <p:cNvSpPr txBox="1"/>
          <p:nvPr/>
        </p:nvSpPr>
        <p:spPr>
          <a:xfrm>
            <a:off x="548640" y="5760720"/>
            <a:ext cx="10972800" cy="640080"/>
          </a:xfrm>
          <a:prstGeom prst="rect">
            <a:avLst/>
          </a:prstGeom>
          <a:noFill/>
        </p:spPr>
        <p:txBody>
          <a:bodyPr wrap="square">
            <a:spAutoFit/>
          </a:bodyPr>
          <a:lstStyle/>
          <a:p>
            <a:pPr algn="l"/>
            <a:r>
              <a:rPr sz="1400" b="0">
                <a:solidFill>
                  <a:srgbClr val="8B2E2B"/>
                </a:solidFill>
                <a:latin typeface="Georgia"/>
              </a:rPr>
              <a:t>“The grounding documents provide strong executive summary content but lack the granular market-level and client-level analytics needed for operational decision-making on resource allocation between geographies or client segments.”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F44"/>
        </a:solidFill>
        <a:effectLst/>
      </p:bgPr>
    </p:bg>
    <p:spTree>
      <p:nvGrpSpPr>
        <p:cNvPr id="1" name=""/>
        <p:cNvGrpSpPr/>
        <p:nvPr/>
      </p:nvGrpSpPr>
      <p:grpSpPr/>
      <p:sp>
        <p:nvSpPr>
          <p:cNvPr id="2" name="TextBox 1"/>
          <p:cNvSpPr txBox="1"/>
          <p:nvPr/>
        </p:nvSpPr>
        <p:spPr>
          <a:xfrm>
            <a:off x="548640" y="457200"/>
            <a:ext cx="10972800" cy="640080"/>
          </a:xfrm>
          <a:prstGeom prst="rect">
            <a:avLst/>
          </a:prstGeom>
          <a:noFill/>
        </p:spPr>
        <p:txBody>
          <a:bodyPr wrap="square">
            <a:spAutoFit/>
          </a:bodyPr>
          <a:lstStyle/>
          <a:p>
            <a:pPr algn="l"/>
            <a:r>
              <a:rPr sz="2200" b="1">
                <a:solidFill>
                  <a:srgbClr val="F7F3EA"/>
                </a:solidFill>
                <a:latin typeface="Calibri"/>
              </a:rPr>
              <a:t>What this means</a:t>
            </a:r>
          </a:p>
        </p:txBody>
      </p:sp>
      <p:sp>
        <p:nvSpPr>
          <p:cNvPr id="3" name="TextBox 2"/>
          <p:cNvSpPr txBox="1"/>
          <p:nvPr/>
        </p:nvSpPr>
        <p:spPr>
          <a:xfrm>
            <a:off x="548640" y="1554480"/>
            <a:ext cx="10972800" cy="4114800"/>
          </a:xfrm>
          <a:prstGeom prst="rect">
            <a:avLst/>
          </a:prstGeom>
          <a:noFill/>
        </p:spPr>
        <p:txBody>
          <a:bodyPr wrap="square">
            <a:spAutoFit/>
          </a:bodyPr>
          <a:lstStyle/>
          <a:p>
            <a:pPr algn="l"/>
            <a:r>
              <a:rPr sz="2200" b="0">
                <a:solidFill>
                  <a:srgbClr val="F7F3EA"/>
                </a:solidFill>
                <a:latin typeface="Georgia"/>
              </a:rPr>
              <a:t>Lemasy's Q1 2025 performance demonstrates strong aggregate growth and competitive positioning through domain expertise, but requires more granular market-level performance decomposition to inform resource allocation decisions.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3EA"/>
        </a:solidFill>
        <a:effectLst/>
      </p:bgPr>
    </p:bg>
    <p:spTree>
      <p:nvGrpSpPr>
        <p:cNvPr id="1" name=""/>
        <p:cNvGrpSpPr/>
        <p:nvPr/>
      </p:nvGrpSpPr>
      <p:grpSpPr/>
      <p:sp>
        <p:nvSpPr>
          <p:cNvPr id="2" name="TextBox 1"/>
          <p:cNvSpPr txBox="1"/>
          <p:nvPr/>
        </p:nvSpPr>
        <p:spPr>
          <a:xfrm>
            <a:off x="548640" y="457200"/>
            <a:ext cx="10972800" cy="640080"/>
          </a:xfrm>
          <a:prstGeom prst="rect">
            <a:avLst/>
          </a:prstGeom>
          <a:noFill/>
        </p:spPr>
        <p:txBody>
          <a:bodyPr wrap="square">
            <a:spAutoFit/>
          </a:bodyPr>
          <a:lstStyle/>
          <a:p>
            <a:pPr algn="l"/>
            <a:r>
              <a:rPr sz="2200" b="1">
                <a:solidFill>
                  <a:srgbClr val="0A1F44"/>
                </a:solidFill>
                <a:latin typeface="Calibri"/>
              </a:rPr>
              <a:t>Sources</a:t>
            </a:r>
          </a:p>
        </p:txBody>
      </p:sp>
      <p:sp>
        <p:nvSpPr>
          <p:cNvPr id="3" name="TextBox 2"/>
          <p:cNvSpPr txBox="1"/>
          <p:nvPr/>
        </p:nvSpPr>
        <p:spPr>
          <a:xfrm>
            <a:off x="548640" y="1554480"/>
            <a:ext cx="10972800" cy="4572000"/>
          </a:xfrm>
          <a:prstGeom prst="rect">
            <a:avLst/>
          </a:prstGeom>
          <a:noFill/>
        </p:spPr>
        <p:txBody>
          <a:bodyPr wrap="square">
            <a:spAutoFit/>
          </a:bodyPr>
          <a:lstStyle/>
          <a:p>
            <a:pPr algn="l"/>
            <a:r>
              <a:rPr sz="1400" b="0">
                <a:solidFill>
                  <a:srgbClr val="111827"/>
                </a:solidFill>
                <a:latin typeface="Calibri"/>
              </a:rPr>
              <a:t>[1]  lemasy-markets-and-client-performance-analysis.docx</a:t>
            </a:r>
          </a:p>
          <a:p>
            <a:r>
              <a:t>[2]  lemasy-q1-2025-market-position-and-operating-performance.docx</a:t>
            </a:r>
          </a:p>
          <a:p>
            <a:r>
              <a:t>[3]  q1-2025-product-market-position.docx</a:t>
            </a:r>
          </a:p>
          <a:p>
            <a:r>
              <a:t>[4]  lemasy_strategic_report_fy2025_2027</a:t>
            </a:r>
          </a:p>
          <a:p>
            <a:r>
              <a:t>[5]  lemasy_minutes_q1_2025</a:t>
            </a:r>
          </a:p>
          <a:p>
            <a:r>
              <a:t>[6]  lemasy_ceo_performance_contract_fy2025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