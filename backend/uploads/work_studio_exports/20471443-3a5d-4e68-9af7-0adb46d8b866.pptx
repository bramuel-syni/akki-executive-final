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A1F44"/>
                </a:solidFill>
                <a:latin typeface="Calibri"/>
              </a:rPr>
              <a:t>CLASSIFICATION  ·  INTERNAL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A1F44"/>
                </a:solidFill>
                <a:latin typeface="Georgia"/>
              </a:rPr>
              <a:t>Q4 Risk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383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B5563"/>
                </a:solidFill>
                <a:latin typeface="Georgia"/>
              </a:rPr>
              <a:t>Audit Committee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Prepared for Audit Committee  ·  Q4  ·  07 May 2026 · 03:55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A1F44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11827"/>
                </a:solidFill>
                <a:latin typeface="Georgia"/>
              </a:rPr>
              <a:t>Three material themes define the Q4 risk posture: covenant headroom remains stable with net leverage at 2.4x against a 3.0x threshold; counterparty concentration and operational resilience both carry amber ratings requiring active remediation through Q1.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A1F44"/>
                </a:solidFill>
                <a:latin typeface="Calibri"/>
              </a:rPr>
              <a:t>Covenant Headroom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Georgia"/>
              </a:rPr>
              <a:t>•  Net leverage stands at 2.4x versus a 3.0x covenant threshold, providing 0.6x of headroom at quarter end.</a:t>
            </a:r>
          </a:p>
          <a:p>
            <a:r>
              <a:t>•  Headroom improved 20% year-on-year, driven by debt reduction and EBITDA stability across the reporting period.</a:t>
            </a:r>
          </a:p>
          <a:p>
            <a:r>
              <a:t>•  Stress testing scenarios including revenue contraction and margin compression confirm continued compliance through the covenant measurement cycle.</a:t>
            </a:r>
          </a:p>
          <a:p/>
          <a:p>
            <a:r>
              <a:t>[1]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A1F44"/>
                </a:solidFill>
                <a:latin typeface="Calibri"/>
              </a:rPr>
              <a:t>Counterparty Concentration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Georgia"/>
              </a:rPr>
              <a:t>•  The top three counterparties now represent 41% of total exposure, exceeding the internal 40% concentration threshold established in the risk appetite framework.</a:t>
            </a:r>
          </a:p>
          <a:p>
            <a:r>
              <a:t>•  Breach occurred during Q4 as two existing relationships expanded trade volumes without offsetting diversification across the broader counterparty base.</a:t>
            </a:r>
          </a:p>
          <a:p>
            <a:r>
              <a:t>•  Management has initiated a diversification plan targeting threshold compliance by end of Q1, with monthly progress reporting to the Chief Risk Officer.</a:t>
            </a:r>
          </a:p>
          <a:p>
            <a:r>
              <a:t>•  The plan includes onboarding four qualified counterparties and rebalancing contract allocation to reduce top-three concentration to 38% within 90 days.</a:t>
            </a:r>
          </a:p>
          <a:p/>
          <a:p>
            <a:r>
              <a:t>[1]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A1F44"/>
                </a:solidFill>
                <a:latin typeface="Calibri"/>
              </a:rPr>
              <a:t>Operational Resilience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Georgia"/>
              </a:rPr>
              <a:t>•  Two Recovery Time Objective misses occurred at quarter end, both in non-critical systems with restoration completed within 30 minutes of target.</a:t>
            </a:r>
          </a:p>
          <a:p>
            <a:r>
              <a:t>•  Root cause analysis identified configuration drift in backup orchestration; no customer impact or data integrity issues resulted from either incident.</a:t>
            </a:r>
          </a:p>
          <a:p>
            <a:r>
              <a:t>•  Remediation work is scheduled for completion next quarter, including automated configuration validation and expanded runbook testing across the disaster recovery environment.</a:t>
            </a:r>
          </a:p>
          <a:p/>
          <a:p>
            <a:r>
              <a:t>[1]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A1F44"/>
                </a:solidFill>
                <a:latin typeface="Calibri"/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Georgia"/>
              </a:rPr>
              <a:t>•  The Committee is asked to note the Q4 risk posture comprising two amber themes (counterparty concentration, operational resilience) and one stable theme (covenant headroom).</a:t>
            </a:r>
          </a:p>
          <a:p>
            <a:r>
              <a:t>•  Management's remediation plans for both amber themes are within the approved risk appetite, with committed timelines of Q1 for counterparty rebalancing and next quarter for operational controls closure.</a:t>
            </a:r>
          </a:p>
          <a:p>
            <a:r>
              <a:t>•  No additional governance action or resource allocation is required at this time; both amber themes remain under active management oversight with monthly monitoring.</a:t>
            </a:r>
          </a:p>
          <a:p/>
          <a:p>
            <a:r>
              <a:t>[1]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7F3EA"/>
                </a:solidFill>
                <a:latin typeface="Calibri"/>
              </a:rPr>
              <a:t>What this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7F3EA"/>
                </a:solidFill>
                <a:latin typeface="Georgia"/>
              </a:rPr>
              <a:t>Two amber themes are within appetite with committed remediation timelines; covenant position remains stable.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A1F44"/>
                </a:solidFill>
                <a:latin typeface="Calibri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[1]  q4_deck.pptx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